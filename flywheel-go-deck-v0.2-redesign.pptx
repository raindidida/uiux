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b9974782554ffa" /><Relationship Type="http://schemas.openxmlformats.org/officeDocument/2006/relationships/extended-properties" Target="/docProps/app.xml" Id="R50fb8a8fa01042f4" /><Relationship Type="http://schemas.openxmlformats.org/officeDocument/2006/relationships/officeDocument" Target="/ppt/presentation.xml" Id="Rca9d56eef9e345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82e13fd5ac4da8"/>
  </p:sldMasterIdLst>
  <p:notesMasterIdLst>
    <p:notesMasterId xmlns:r="http://schemas.openxmlformats.org/officeDocument/2006/relationships" r:id="R5a1b8ff53b684818"/>
  </p:notesMasterIdLst>
  <p:sldIdLst>
    <p:sldId xmlns:r="http://schemas.openxmlformats.org/officeDocument/2006/relationships" id="256" r:id="Re321b76991f44583"/>
    <p:sldId xmlns:r="http://schemas.openxmlformats.org/officeDocument/2006/relationships" id="257" r:id="R391c374a61b84fb3"/>
    <p:sldId xmlns:r="http://schemas.openxmlformats.org/officeDocument/2006/relationships" id="258" r:id="R4455dcac1f84442b"/>
    <p:sldId xmlns:r="http://schemas.openxmlformats.org/officeDocument/2006/relationships" id="259" r:id="R2561785174834577"/>
    <p:sldId xmlns:r="http://schemas.openxmlformats.org/officeDocument/2006/relationships" id="260" r:id="R7ce28a2abc4440fb"/>
    <p:sldId xmlns:r="http://schemas.openxmlformats.org/officeDocument/2006/relationships" id="261" r:id="R598ece16c10d4b09"/>
    <p:sldId xmlns:r="http://schemas.openxmlformats.org/officeDocument/2006/relationships" id="262" r:id="R526b32f59ea34120"/>
    <p:sldId xmlns:r="http://schemas.openxmlformats.org/officeDocument/2006/relationships" id="263" r:id="Rdb10625f7336461b"/>
    <p:sldId xmlns:r="http://schemas.openxmlformats.org/officeDocument/2006/relationships" id="264" r:id="R399e5a7fba9943d9"/>
    <p:sldId xmlns:r="http://schemas.openxmlformats.org/officeDocument/2006/relationships" id="265" r:id="Rf3fc7f500eba4478"/>
    <p:sldId xmlns:r="http://schemas.openxmlformats.org/officeDocument/2006/relationships" id="266" r:id="R424cc427a93346d9"/>
    <p:sldId xmlns:r="http://schemas.openxmlformats.org/officeDocument/2006/relationships" id="267" r:id="R2ac33e075bc0437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2e13fd5ac4da8" /><Relationship Type="http://schemas.openxmlformats.org/officeDocument/2006/relationships/theme" Target="/ppt/theme/theme1.xml" Id="R251ccd4c4090471d" /><Relationship Type="http://schemas.openxmlformats.org/officeDocument/2006/relationships/notesMaster" Target="/ppt/notesMasters/notesMaster1.xml" Id="R5a1b8ff53b684818" /><Relationship Type="http://schemas.openxmlformats.org/officeDocument/2006/relationships/presProps" Target="/ppt/presProps.xml" Id="Rfabca757543c4c3c" /><Relationship Type="http://schemas.openxmlformats.org/officeDocument/2006/relationships/viewProps" Target="/ppt/viewProps.xml" Id="Re2cfc178afc9423a" /><Relationship Type="http://schemas.openxmlformats.org/officeDocument/2006/relationships/tableStyles" Target="/ppt/tableStyles.xml" Id="R120685ead8c545bf" /><Relationship Type="http://schemas.openxmlformats.org/officeDocument/2006/relationships/slide" Target="/ppt/slides/slide1.xml" Id="Re321b76991f44583" /><Relationship Type="http://schemas.openxmlformats.org/officeDocument/2006/relationships/slide" Target="/ppt/slides/slide2.xml" Id="R391c374a61b84fb3" /><Relationship Type="http://schemas.openxmlformats.org/officeDocument/2006/relationships/slide" Target="/ppt/slides/slide3.xml" Id="R4455dcac1f84442b" /><Relationship Type="http://schemas.openxmlformats.org/officeDocument/2006/relationships/slide" Target="/ppt/slides/slide4.xml" Id="R2561785174834577" /><Relationship Type="http://schemas.openxmlformats.org/officeDocument/2006/relationships/slide" Target="/ppt/slides/slide5.xml" Id="R7ce28a2abc4440fb" /><Relationship Type="http://schemas.openxmlformats.org/officeDocument/2006/relationships/slide" Target="/ppt/slides/slide6.xml" Id="R598ece16c10d4b09" /><Relationship Type="http://schemas.openxmlformats.org/officeDocument/2006/relationships/slide" Target="/ppt/slides/slide7.xml" Id="R526b32f59ea34120" /><Relationship Type="http://schemas.openxmlformats.org/officeDocument/2006/relationships/slide" Target="/ppt/slides/slide8.xml" Id="Rdb10625f7336461b" /><Relationship Type="http://schemas.openxmlformats.org/officeDocument/2006/relationships/slide" Target="/ppt/slides/slide9.xml" Id="R399e5a7fba9943d9" /><Relationship Type="http://schemas.openxmlformats.org/officeDocument/2006/relationships/slide" Target="/ppt/slides/slide10.xml" Id="Rf3fc7f500eba4478" /><Relationship Type="http://schemas.openxmlformats.org/officeDocument/2006/relationships/slide" Target="/ppt/slides/slide11.xml" Id="R424cc427a93346d9" /><Relationship Type="http://schemas.openxmlformats.org/officeDocument/2006/relationships/slide" Target="/ppt/slides/slide12.xml" Id="R2ac33e075bc043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9b1f2dea64240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2efd868f134484" /><Relationship Type="http://schemas.openxmlformats.org/officeDocument/2006/relationships/notesMaster" Target="/ppt/notesMasters/notesMaster1.xml" Id="R4ce5a1385af748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5c9717e2044e80" /><Relationship Type="http://schemas.openxmlformats.org/officeDocument/2006/relationships/notesMaster" Target="/ppt/notesMasters/notesMaster1.xml" Id="Rd0b0c729ce6746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d516d6be2a4c74" /><Relationship Type="http://schemas.openxmlformats.org/officeDocument/2006/relationships/notesMaster" Target="/ppt/notesMasters/notesMaster1.xml" Id="R8b07b420083449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e710eff5f446c6" /><Relationship Type="http://schemas.openxmlformats.org/officeDocument/2006/relationships/notesMaster" Target="/ppt/notesMasters/notesMaster1.xml" Id="R51d1b697c3bb40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3e618265ab49c4" /><Relationship Type="http://schemas.openxmlformats.org/officeDocument/2006/relationships/notesMaster" Target="/ppt/notesMasters/notesMaster1.xml" Id="R313e63a3ff3746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6017570a0a41ef" /><Relationship Type="http://schemas.openxmlformats.org/officeDocument/2006/relationships/notesMaster" Target="/ppt/notesMasters/notesMaster1.xml" Id="R6fd71af82b9049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02705f659645fd" /><Relationship Type="http://schemas.openxmlformats.org/officeDocument/2006/relationships/notesMaster" Target="/ppt/notesMasters/notesMaster1.xml" Id="R888c28bbe6a148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0fc890a6af40d6" /><Relationship Type="http://schemas.openxmlformats.org/officeDocument/2006/relationships/notesMaster" Target="/ppt/notesMasters/notesMaster1.xml" Id="R97c0f952774343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e1365c71fc4f3f" /><Relationship Type="http://schemas.openxmlformats.org/officeDocument/2006/relationships/notesMaster" Target="/ppt/notesMasters/notesMaster1.xml" Id="Re0794a5cf9624f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f1f403b2044201" /><Relationship Type="http://schemas.openxmlformats.org/officeDocument/2006/relationships/notesMaster" Target="/ppt/notesMasters/notesMaster1.xml" Id="R7300004db77e4e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0f210083ee4241" /><Relationship Type="http://schemas.openxmlformats.org/officeDocument/2006/relationships/notesMaster" Target="/ppt/notesMasters/notesMaster1.xml" Id="R20fa9e37226347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58ee0901b447c0" /><Relationship Type="http://schemas.openxmlformats.org/officeDocument/2006/relationships/notesMaster" Target="/ppt/notesMasters/notesMaster1.xml" Id="R39dee94b751f46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c839c137249a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db04b39179441e2" /><Relationship Type="http://schemas.openxmlformats.org/officeDocument/2006/relationships/slideLayout" Target="/ppt/slideLayouts/slideLayout2.xml" Id="R051332ef12ee45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1332ef12ee45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1390772b2640c6" /><Relationship Type="http://schemas.openxmlformats.org/officeDocument/2006/relationships/image" Target="/ppt/media/image.png" Id="Rf37d5fa15c254b50" /><Relationship Type="http://schemas.openxmlformats.org/officeDocument/2006/relationships/notesSlide" Target="/ppt/notesSlides/notesSlide1.xml" Id="R25626ef3e4a04a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d102c4e9fd4c92" /><Relationship Type="http://schemas.openxmlformats.org/officeDocument/2006/relationships/notesSlide" Target="/ppt/notesSlides/notesSlide2.xml" Id="Rb20f18e647974b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040f815464498b" /><Relationship Type="http://schemas.openxmlformats.org/officeDocument/2006/relationships/notesSlide" Target="/ppt/notesSlides/notesSlide3.xml" Id="Rbcada9b5039543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eafe0907174764" /><Relationship Type="http://schemas.openxmlformats.org/officeDocument/2006/relationships/notesSlide" Target="/ppt/notesSlides/notesSlide4.xml" Id="Rd62dc1717ec043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ebed7c9fe04b0a" /><Relationship Type="http://schemas.openxmlformats.org/officeDocument/2006/relationships/notesSlide" Target="/ppt/notesSlides/notesSlide5.xml" Id="Ra4b94cece61c4a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89a2f939784097" /><Relationship Type="http://schemas.openxmlformats.org/officeDocument/2006/relationships/image" Target="/ppt/media/image2.png" Id="R62224f66c048440c" /><Relationship Type="http://schemas.openxmlformats.org/officeDocument/2006/relationships/notesSlide" Target="/ppt/notesSlides/notesSlide6.xml" Id="R630f143b0c104c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c1cd4da79a44dc" /><Relationship Type="http://schemas.openxmlformats.org/officeDocument/2006/relationships/image" Target="/ppt/media/image3.png" Id="R279881770d014421" /><Relationship Type="http://schemas.openxmlformats.org/officeDocument/2006/relationships/notesSlide" Target="/ppt/notesSlides/notesSlide7.xml" Id="Rc7f0dffd80bf4c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460c6baaa94fcc" /><Relationship Type="http://schemas.openxmlformats.org/officeDocument/2006/relationships/notesSlide" Target="/ppt/notesSlides/notesSlide8.xml" Id="R074da7c15ac047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d8c1196ea24e76" /><Relationship Type="http://schemas.openxmlformats.org/officeDocument/2006/relationships/notesSlide" Target="/ppt/notesSlides/notesSlide9.xml" Id="R593ed38e30a140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4dcf4501734fb6" /><Relationship Type="http://schemas.openxmlformats.org/officeDocument/2006/relationships/notesSlide" Target="/ppt/notesSlides/notesSlide10.xml" Id="Rd1522bb588dc40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59969db1e3452d" /><Relationship Type="http://schemas.openxmlformats.org/officeDocument/2006/relationships/notesSlide" Target="/ppt/notesSlides/notesSlide11.xml" Id="R3f634ba2621345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26feda04cf4189" /><Relationship Type="http://schemas.openxmlformats.org/officeDocument/2006/relationships/image" Target="/ppt/media/image4.png" Id="Rb0ca576291d44669" /><Relationship Type="http://schemas.openxmlformats.org/officeDocument/2006/relationships/notesSlide" Target="/ppt/notesSlides/notesSlide12.xml" Id="Rf96f05fbab29426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641CFE-E3AF-4BD8-AE70-F6868CAD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F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1F836-2743-48EA-8787-79C36178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D4F92-20D3-425A-B514-1E717507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859A6-43BD-4D86-A3DB-A606F5F5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762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576B2-1485-47E8-B943-6F793A44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Flywheel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375ED-6B0F-4348-86CA-9931CDC9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47700" y="4286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d5fa15c254b50"/>
          <a:srcRect xmlns:a="http://schemas.openxmlformats.org/drawingml/2006/main" l="0" t="107" r="0" b="1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514350"/>
            <a:ext cx="6572250" cy="3981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1A82C-8BDA-4BAE-B812-C5AEC06A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048000"/>
            <a:ext cx="6858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9"/>
          </a:solidFill>
          <a:ln xmlns:a="http://schemas.openxmlformats.org/drawingml/2006/main" w="0"/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49174-7D54-47B4-BABC-D3F232EC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FLYWHEEL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12E9C-CA1E-4FA2-B093-DE3CF770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6000750" cy="11239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310"/>
                </a:solidFill>
                <a:latin typeface="Aptos Display"/>
                <a:ea typeface="Aptos Display"/>
                <a:cs typeface="Aptos Display"/>
              </a:defRPr>
            </a:pPr>
            <a:r>
              <a:t>A proactive AI marketing operator for small teams.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5EBFD-B3D0-40EE-BD04-4E864E37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5334000" cy="647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Flywheel understands each business, spots growth opportunities, turns them into campaigns, and keeps execution moving.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A50811-40EA-4642-A109-DEA5D7A6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429000"/>
            <a:ext cx="1028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59675-7B7A-4B08-AD5F-36C85993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552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F34D3-C729-4EA0-AF6D-975EE158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14725"/>
            <a:ext cx="6096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AI CMO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C29353-CFB7-4390-BE52-47DA94F2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3429000"/>
            <a:ext cx="1028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E7BF91-E906-4532-AFD9-D98DC504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3552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04524-F69C-49FD-BD72-3847E70E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14725"/>
            <a:ext cx="6096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Content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41092-4EDE-4FEC-BB1F-B3B03FE4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3429000"/>
            <a:ext cx="1028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CC4AA2-BF62-4671-8F92-447CDB6A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3552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A5BCE5-18E4-4F09-AA1E-53BD2B39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14725"/>
            <a:ext cx="6096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Social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511C18-C813-48D7-B0E7-E52ABAB2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3429000"/>
            <a:ext cx="1028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C1441A-B468-4BC8-B32E-F01C1483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3552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/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BFDCD4-DAD8-4532-9208-F44A881A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14725"/>
            <a:ext cx="6096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Growth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B60C70-7DA0-4303-8E9A-310E1D9C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334000" cy="4953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Built for SMBs and one-person companies that need marketing motion before they can hire a full team.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659A5C-FB48-4880-BD56-3C5DFE67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895850"/>
            <a:ext cx="1962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52D6BF-C54D-4A1A-982B-D4AEA07E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152400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mktflywheel.ai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B6F9E1-66B8-424C-9660-A5A04705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3812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Flywheel go deck v0.2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8DC8B5-2A29-4A17-891A-52E5C15F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191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92B224-3AF3-4B69-9102-83D73757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62674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/>
        </p:spPr>
      </p:sp>
    </p:spTree>
    <p:extLst>
      <p:ext uri="{BB962C8B-B14F-4D97-AF65-F5344CB8AC3E}">
        <p14:creationId xmlns:p14="http://schemas.microsoft.com/office/powerpoint/2010/main" val="11166860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C80FEB-15E8-455A-B9A2-525A4616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9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EA03E-92BC-4A08-8CAD-42615AE3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A9B9E-2CEA-45DD-9936-D36D7395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AD076-C040-47ED-877A-DBD3F335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762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4EC07-444B-483D-BE49-E52DD9CC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Flywheel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732E9-A4D6-49B5-92D3-C2009D9C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47700" y="4286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8DE6A-EF80-4B42-B4BC-0516419B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WHO FEELS THE PAIN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27013-1678-43CA-A91C-9E53300C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7239000" cy="819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310"/>
                </a:solidFill>
                <a:latin typeface="Aptos Display"/>
                <a:ea typeface="Aptos Display"/>
                <a:cs typeface="Aptos Display"/>
              </a:defRPr>
            </a:pPr>
            <a:r>
              <a:t>Small businesses need full-team marketing before they can hire 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65F56-5743-44E9-B519-75747EAF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858000" cy="666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A solo founder still needs strategy, content, SEO, social, analytics, campaigns, and decisions every week.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64A7D-F1AF-436B-B84F-6D4A7CB5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781300"/>
            <a:ext cx="20193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28FCD-028D-43E0-B7DA-EDE9EE83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6383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Founder owns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0D952-6512-4753-BBD5-B83BC38E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Strategy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F245A-9A0D-417E-A430-D6E560A8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16383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A7B06-CC6C-4546-81C3-413F77FD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9900" y="2781300"/>
            <a:ext cx="20193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2A1E38-DAB2-48BB-8490-A861025B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52750"/>
            <a:ext cx="16383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Founder owns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39C6D-0888-4766-8F93-FF5E93E1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575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Content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43BF5-B6B5-45FD-B694-0F52DCFD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57600"/>
            <a:ext cx="16383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C03987-6375-4DC1-BA41-D8282130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2781300"/>
            <a:ext cx="20193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6324F-D8A0-421F-B78F-354EBFD5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16383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C4899"/>
                </a:solidFill>
                <a:latin typeface="Aptos"/>
                <a:ea typeface="Aptos"/>
                <a:cs typeface="Aptos"/>
              </a:defRPr>
            </a:pPr>
            <a:r>
              <a:t>Founder owns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C190E3-2EE2-4425-BF63-07249C83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575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Channels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5802AF-5B41-426F-B55B-C135EABE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16383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486365-6F21-47B7-8B82-1C87606C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8100" y="2781300"/>
            <a:ext cx="20193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5D1B10-9EDB-4FB0-A6F4-468DD485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52750"/>
            <a:ext cx="16383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t>Founder owns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0D69DB-EB99-490C-882E-843A6E8F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575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Reporting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CBEE29-F3F5-477D-A35F-DFC6580D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57600"/>
            <a:ext cx="1638300" cy="3429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053826-A9F1-4B58-B8E0-F841B19C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2876550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E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C8B92D-733C-4500-8CAC-AA02BDC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838200" cy="2476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CEO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4F2606-924F-44F3-9B19-0E5EE942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00500"/>
            <a:ext cx="12763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CEO / Founder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0FD04A-AC9D-421C-8B4F-73FBD6EE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629150"/>
            <a:ext cx="47625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F9DD7C-240F-400D-925A-C2F1539B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815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The bottleneck is judgment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BDA6C5-586C-4DD0-B382-CA7C89BA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438150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The hard part is deciding the next move and turning that decision into execution.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3FC339-0314-4ED8-BD17-9A34E637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2150" y="4629150"/>
            <a:ext cx="47625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C6A5F2-CBD8-44DC-A629-DC7DFBC1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57750"/>
            <a:ext cx="43815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The work is continuous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3A3D78-28A1-46FE-BD6D-44E79C3F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14950"/>
            <a:ext cx="438150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Search, GEO, social, content, and reporting keep moving even when there is no dedicated marketing team.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23EF12-971A-42F6-8ED1-DE9D837F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3812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Flywheel go deck v0.2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F0205D-6D7E-4BAE-92C9-53BAC6CB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191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F3FE24-EBD6-41FC-8C40-131A5FD5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62674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</p:spTree>
    <p:extLst>
      <p:ext uri="{BB962C8B-B14F-4D97-AF65-F5344CB8AC3E}">
        <p14:creationId xmlns:p14="http://schemas.microsoft.com/office/powerpoint/2010/main" val="13844492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2E3CC2-BED9-4FF1-AC6D-873D697F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9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01CE9-76DF-45DF-BE61-76B5EE6A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A32BA-3134-42B1-B8DF-3D7DB56C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E9CED-BD67-478E-9FCA-385EC01B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762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54FD0-BAD9-4E0F-84D6-66AC3C6C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Flywheel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6D31C-D920-4C7E-90F1-E479705A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47700" y="4286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7DAB3-A2B0-4C01-80D6-8E303352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78105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WHY EXISTING OPTIONS BREAK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159AC-888C-4918-874E-F3572007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7810500" cy="819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310"/>
                </a:solidFill>
                <a:latin typeface="Aptos Display"/>
                <a:ea typeface="Aptos Display"/>
                <a:cs typeface="Aptos Display"/>
              </a:defRPr>
            </a:pPr>
            <a:r>
              <a:t>The founder is still left acting as the CMO.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B4C81-30BF-4D26-A313-229622AD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858000" cy="666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Current tools cover pieces of marketing. The owner still connects context, chooses priorities, and pushes work forward.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D9BC8-9981-4C4D-A665-A85ECC92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857500"/>
            <a:ext cx="3124200" cy="1962150"/>
          </a:xfrm>
          <a:prstGeom xmlns:a="http://schemas.openxmlformats.org/drawingml/2006/main" prst="roundRect">
            <a:avLst>
              <a:gd name="adj" fmla="val 67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E29C7-1268-4AF2-B658-3A3EF452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7432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GENERIC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6D844-C1B3-4565-8EBF-7A624209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7432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Prompt-level drafting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FA290-94EE-4887-A813-272F6640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2743200" cy="1047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Chat tools can write posts and brainstorm ideas. Ownership stays with the founder.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7F126-65F4-46F7-B867-E235FF7D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2857500"/>
            <a:ext cx="3124200" cy="1962150"/>
          </a:xfrm>
          <a:prstGeom xmlns:a="http://schemas.openxmlformats.org/drawingml/2006/main" prst="roundRect">
            <a:avLst>
              <a:gd name="adj" fmla="val 67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9EBD59-AC65-4E91-87F6-629A6A12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27432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MARKETING SAAS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0A79F-C7F5-40EB-9AEE-19ED4BFD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27432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Workflow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A2691-DF84-4877-AE56-45CD72FD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743200" cy="1047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Dashboards, CRMs, and calendars organize activity. The founder still chooses the next move for this business.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9C85B-87DB-4461-ABAC-BB999A4F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2857500"/>
            <a:ext cx="3124200" cy="1962150"/>
          </a:xfrm>
          <a:prstGeom xmlns:a="http://schemas.openxmlformats.org/drawingml/2006/main" prst="roundRect">
            <a:avLst>
              <a:gd name="adj" fmla="val 67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F97EB-DD07-49D4-9DA3-D9A55924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28950"/>
            <a:ext cx="27432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t>AGENCY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810EBE-7EB2-41EE-BF9D-362A11F1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27432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External 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540ED7-F9EA-4ABC-B1C3-9613C959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33800"/>
            <a:ext cx="2743200" cy="1047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Agencies add capacity, with higher cost, slower iteration, and less weekly control for early teams.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8609BA-D42B-4496-BFB8-07A4DF41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5219700"/>
            <a:ext cx="9067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5407B2-D7B9-4720-9206-5665CEF5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72100"/>
            <a:ext cx="84963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Flywheel is built to be the missing marketing operator: business memory + marketing judgment + execution loop.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AB1815-766B-4CCB-91E4-E9601D82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3812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Flywheel go deck v0.2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FA52AB-330E-431D-B8C0-CC78CBDF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191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C3DC77-9A92-461C-9442-CA92B9DD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62674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/>
        </p:spPr>
      </p:sp>
    </p:spTree>
    <p:extLst>
      <p:ext uri="{BB962C8B-B14F-4D97-AF65-F5344CB8AC3E}">
        <p14:creationId xmlns:p14="http://schemas.microsoft.com/office/powerpoint/2010/main" val="13780450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3D6EF3-D6ED-499C-A383-1591780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F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0F88D-6EE4-4CC0-AADD-38A0C39E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B0E04-9C81-4F2B-87E1-A294E7C6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E464B-9AD7-464F-99B8-E91794ED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762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B2EE6-0DFF-4144-BE0B-B408A973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Flywheel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660B2-6FEB-4947-9863-C21CB475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47700" y="4286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EC1DF-97BB-42FF-A6B5-A39C02B9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66675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WHAT FLYWHEEL DOES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8E928-B18D-4E91-A9C5-99AA3977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6667500" cy="819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310"/>
                </a:solidFill>
                <a:latin typeface="Aptos Display"/>
                <a:ea typeface="Aptos Display"/>
                <a:cs typeface="Aptos Display"/>
              </a:defRPr>
            </a:pPr>
            <a:r>
              <a:t>It turns business context into marketing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CA41B-09E0-4774-8799-C1FB6682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667500" cy="666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The CMO makes the call. Specialist agents produce the assets. The founder reviews the moments that matter.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F2D16-9698-4A04-8E69-EB69699C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2381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AD596-5C72-4B86-8C1E-878705E5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28950"/>
            <a:ext cx="104775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AI CMO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D9394-8425-4F54-8949-231F528A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2000250"/>
            <a:ext cx="314325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7D48D-093F-4F00-8074-1F5CC8DD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71700"/>
            <a:ext cx="27622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Content Specialist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D76D1-1AEB-44B5-9494-A1029AA3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27622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Content Specialist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D829A-7820-44E1-A1F9-46F3CC36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76550"/>
            <a:ext cx="276225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Creates and improves SEO / GEO-ready content assets.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6EDA94-ADC9-4E42-8297-6DC01CE4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3371850"/>
            <a:ext cx="314325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4DBE78-9733-4BAD-9D38-C0AA238D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27622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C4899"/>
                </a:solidFill>
                <a:latin typeface="Aptos"/>
                <a:ea typeface="Aptos"/>
                <a:cs typeface="Aptos"/>
              </a:defRPr>
            </a:pPr>
            <a:r>
              <a:t>Social Media Specialist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1D85D-823A-4367-9E31-5651D045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48100"/>
            <a:ext cx="27622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Social Media Specialist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CDC1F3-C852-4E7B-BE6B-69AEDAAF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48150"/>
            <a:ext cx="276225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Prepares, schedules, publishes, and listens across channels.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172A7-F1BC-41D7-B1DF-B61249C6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4495800"/>
            <a:ext cx="314325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7CC53-A7CA-4D96-9C9A-E0F6F74C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67250"/>
            <a:ext cx="27622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t>Growth Analyst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2B3691-F91F-4754-9F34-37B416A8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72050"/>
            <a:ext cx="27622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Growth Analyst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6A15C0-DA4D-4301-BDB9-5F16A217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72100"/>
            <a:ext cx="276225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Tracks market signals, competitors, and growth opportunities.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935BC4-AB4A-4F77-B54A-7DEB1617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62200"/>
            <a:ext cx="3143250" cy="571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Owns strategy, prioritization, coordination, and reporting.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4887F1-1F2E-403C-BC74-E4C2B6D9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8150" y="5772150"/>
            <a:ext cx="3695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7C61FB-63BF-4C69-A454-8BE2A9E0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886450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 marketing team loop.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411F10-419E-4CB4-9A1D-28BC045D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3812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Flywheel go deck v0.2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6F33FB-1A6E-4AF2-8A58-1CD8851B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191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59FBFF-8FB8-4E1F-A724-1DF32873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62674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</p:spTree>
    <p:extLst>
      <p:ext uri="{BB962C8B-B14F-4D97-AF65-F5344CB8AC3E}">
        <p14:creationId xmlns:p14="http://schemas.microsoft.com/office/powerpoint/2010/main" val="12415507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C6C350-E005-4CA8-9A66-9E97BBCD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9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A4AE4-1887-4520-92D2-41FE834F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03E6E-5B79-4861-A0BA-CBA31C93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C7219-E0E3-4FC7-B887-66A684FC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762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B75AF-A255-4482-B32E-39904D6E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Flywheel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82EF2-2553-43D8-9B13-695B50F7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47700" y="4286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93629-FD26-41B1-8DB2-D5A61EB6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74295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HOW IT WORKS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14BF1-2D21-478A-A960-29F6CAE1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7429500" cy="819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310"/>
                </a:solidFill>
                <a:latin typeface="Aptos Display"/>
                <a:ea typeface="Aptos Display"/>
                <a:cs typeface="Aptos Display"/>
              </a:defRPr>
            </a:pPr>
            <a:r>
              <a:t>From business memory to campaign execution.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41C1B-2D5B-4DC8-A7BF-7CCC7EAA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858000" cy="666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The scan is only the entry point. The product is the loop that keeps marketing moving.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52F1C-FEC7-4BCC-B3B7-D50E2DA8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0861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E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8F5A7-F80C-46EC-89C3-EC7A4AD1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276600"/>
            <a:ext cx="60960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SCAN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B6710-09BA-4285-8077-842AEECB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8572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Scan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DA4F3-C119-4882-BA73-D992264C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0477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Company URL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4A912-2257-4676-BC63-87C0C1C8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364807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/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1CA65-2FE2-4D60-AD53-A997FFAE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7900" y="30861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EFA01-2882-444E-8261-1837DF44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76600"/>
            <a:ext cx="60960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MEM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BCA453-91B7-4A08-B6BC-D576E624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00450"/>
            <a:ext cx="8572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Learn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3CF03-7DE0-4546-BC18-B7A81565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43350"/>
            <a:ext cx="10477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Brand knowledge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8F918-9EA0-4925-87BD-47FB6B5B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4807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95264C-5437-4B94-927E-324C8227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30861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E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4CC8B7-C476-4EA5-A5A8-E38F5286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276600"/>
            <a:ext cx="60960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OPP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9FC68-9777-4CD3-8242-60577477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00450"/>
            <a:ext cx="8572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Plan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4404D8-2AD9-4609-A88A-980B41D3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43350"/>
            <a:ext cx="10477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Growth strategy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4B5CF3-7F54-4338-B746-13326C81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364807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/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B4E444-563B-4337-BB15-3D25BD7C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30861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FB54C8-F2EC-4D28-91BD-EE29DB8C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276600"/>
            <a:ext cx="60960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PLAN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00255A-6082-40CB-95DE-F4BDF722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00450"/>
            <a:ext cx="8572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Build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86D2BB-F72C-4AD6-8CF5-032E340D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43350"/>
            <a:ext cx="10477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Campaign plan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E06103-9CAF-4AB6-9337-1505845F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364807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/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BA0143-8563-4786-8626-944B5A0D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350" y="30861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E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086B35-A3E0-40F6-9CAE-0D125D5A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76600"/>
            <a:ext cx="60960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WORK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A853F5-BD2A-400A-976E-453C3A65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00450"/>
            <a:ext cx="8572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Execute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8CDF4C-082F-4050-BFDC-9BEC0735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43350"/>
            <a:ext cx="10477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Specialists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278FFB-141A-4BC1-AA44-C7011797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364807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/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BD9AEF-7E8F-4F85-B76A-F47FCBFE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30861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D95C9A-A75F-470F-B6C2-3914917E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76600"/>
            <a:ext cx="60960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OK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53A52B-4E4D-43C2-867F-13BA47CD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00450"/>
            <a:ext cx="8572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Review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22AC9A-FB1E-4248-908D-8665AE30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43350"/>
            <a:ext cx="10477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Founder control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F2D9B5-1EF2-46C8-8C7D-574D6FA6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364807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/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9AAE77-6E3E-4963-A54C-6F90DC29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650" y="30861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E7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0F7EF7-C8E2-4C9F-8F73-5D9008F2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276600"/>
            <a:ext cx="60960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LOOP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FFF9A3-F739-45F3-986A-15C70802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00450"/>
            <a:ext cx="8572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Improve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4716EC-4E85-4B26-BE42-9939DD79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943350"/>
            <a:ext cx="104775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Learning loop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7E0D8E-B691-4FD5-9A8B-F19EB1E3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5010150"/>
            <a:ext cx="97917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7181B8-49FE-49E5-AE51-45BD21CD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62550"/>
            <a:ext cx="914400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Website scan -&gt; Business memory -&gt; Growth opportunity -&gt; Campaign plan -&gt; Specialist execution -&gt; Founder review -&gt; Learning loop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82CE59-42CD-4F66-9A08-37B11D38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3812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Flywheel go deck v0.2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EE223C-64E3-4025-A291-849DB819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191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C28DB0-C737-4F3B-AFAF-000F51C1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62674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/>
        </p:spPr>
      </p:sp>
    </p:spTree>
    <p:extLst>
      <p:ext uri="{BB962C8B-B14F-4D97-AF65-F5344CB8AC3E}">
        <p14:creationId xmlns:p14="http://schemas.microsoft.com/office/powerpoint/2010/main" val="10503606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5FDC66-9297-4536-A0E6-0B7A60B7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9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01F38-257E-415C-A2F5-AD7F1536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4A8F1-FB1B-41D5-8C91-D952BC94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2B182-0914-48FB-80EF-6B08DF88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762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F5FAA-8ED1-4765-B0A0-354B6C0A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Flywheel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DE1E3-D093-452E-828E-34DFCA71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47700" y="4286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7D844-2FFD-49EC-B166-8908A34B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WHAT THE DEMO SHOULD SHOW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7CDA0-A1FA-4BF2-9B3A-ABE528E4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7239000" cy="819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310"/>
                </a:solidFill>
                <a:latin typeface="Aptos Display"/>
                <a:ea typeface="Aptos Display"/>
                <a:cs typeface="Aptos Display"/>
              </a:defRPr>
            </a:pPr>
            <a:r>
              <a:t>The demo starts with a scan and lands on work in motion.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C0146-C3B1-4F86-8D9C-51084244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858000" cy="666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The audience should see Flywheel move from a company URL to CMO judgment and review-ready marketing output.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24f66c048440c"/>
          <a:srcRect xmlns:a="http://schemas.openxmlformats.org/drawingml/2006/main" l="0" t="145" r="0" b="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990600"/>
            <a:ext cx="4267200" cy="37909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3AEAF-F6EB-406D-B900-D4FEFDD0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914400"/>
            <a:ext cx="4381500" cy="3943350"/>
          </a:xfrm>
          <a:prstGeom xmlns:a="http://schemas.openxmlformats.org/drawingml/2006/main" prst="roundRect">
            <a:avLst>
              <a:gd name="adj" fmla="val 4348"/>
            </a:avLst>
          </a:prstGeom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8C515-2B67-4699-B950-5FA5475F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952750"/>
            <a:ext cx="23812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C5B89-6970-4AC6-B015-428BBF4A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40005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11C40-7089-463B-8F14-95178AA0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20002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Enter URL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5F1A5-C066-4CCD-95A1-4C30D3AB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2000250" cy="1143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Landing input starts the scan.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7BED0-F227-4467-8129-4C5242B0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2952750"/>
            <a:ext cx="23812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FEA01C-40A2-43FD-B6E9-27B9B59C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24200"/>
            <a:ext cx="40005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30C0A-FC62-450D-B9F0-331D798B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29000"/>
            <a:ext cx="20002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Learn business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2AC81-1BCE-4329-9DAE-2AFFA44E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29050"/>
            <a:ext cx="2000250" cy="1143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Initial brand and market read.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BA0ED9-3F9D-410B-93B1-96D10E8F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210050"/>
            <a:ext cx="23812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DC6F6-AEDB-462C-97F8-93DFA646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40005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A4F347-DC04-4AE8-A17C-5A0492D0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20002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CMO plans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2DDC00-64F0-4145-A02D-317E1427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86350"/>
            <a:ext cx="2000250" cy="1143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Strategy becomes a campaign.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7FCDB3-F046-4AED-BE88-153D788A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4210050"/>
            <a:ext cx="23812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FE55A3-CD92-4766-BA8E-BAB0AC85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81500"/>
            <a:ext cx="40005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39586D-17D6-4723-BE72-BEB5E676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86300"/>
            <a:ext cx="20002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Review work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E97DFA-4FCD-44DA-8BBA-A8D24172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86350"/>
            <a:ext cx="2000250" cy="1143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Founder approves the key outputs.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AEC2DD-A8F7-47C4-89CF-82D18189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7315200" cy="285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Viewer takeaway: the URL scan becomes the onboarding moment for an always-on AI marketing team.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29A183-B7F7-4BED-AE3C-2E67EE1A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3812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Flywheel go deck v0.2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C4CAFE-47AB-4445-9751-098AF742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191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869006-F34B-4E5D-907C-2D329AA4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62674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</p:spTree>
    <p:extLst>
      <p:ext uri="{BB962C8B-B14F-4D97-AF65-F5344CB8AC3E}">
        <p14:creationId xmlns:p14="http://schemas.microsoft.com/office/powerpoint/2010/main" val="4133593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D4C4DD-63A0-4116-BF05-E552E0FC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9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17528-931C-4A19-A7CA-F115822B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4F57D-CC3F-400B-868D-0E4822DA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79B80-70F1-4D64-9F28-9BC7FA85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762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0C049-5574-4B19-891C-375C12DD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Flywheel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33DB9-8286-4CC3-A353-60FEB8C5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47700" y="4286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C3F80-C7FD-4565-AC65-6B91F14B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81915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EXECUTION AREAS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09348-B9B6-4C5D-B0EA-02B6C60A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8191500" cy="819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310"/>
                </a:solidFill>
                <a:latin typeface="Aptos Display"/>
                <a:ea typeface="Aptos Display"/>
                <a:cs typeface="Aptos Display"/>
              </a:defRPr>
            </a:pPr>
            <a:r>
              <a:t>Built for the marketing work small teams actually need.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740F4-8F40-42B0-8C40-F5F7FD17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858000" cy="666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Flywheel focuses on the high-leverage channels where founders feel execution pressure every week.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881770d014421"/>
          <a:srcRect xmlns:a="http://schemas.openxmlformats.org/drawingml/2006/main" l="0" t="123" r="0" b="1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2590800"/>
            <a:ext cx="4343400" cy="1524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EABBE-B7A4-478E-B9F3-582025C2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914650"/>
            <a:ext cx="25527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F972F-376A-4766-8230-848C4374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1717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SEO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E8498-2758-4D7A-B13C-849EB84D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1717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SEO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ACD39-954E-4197-BB1A-E0FD59A3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1717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Improve search visibility, landing page quality, and content discoverability.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AA10E-EB74-4DB5-9A12-8C836055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2914650"/>
            <a:ext cx="25527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86D0B-B835-4B43-A11B-F79D8EA2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21717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GEO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C3805-C29A-4CCF-B3BF-222A84B4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90900"/>
            <a:ext cx="21717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GEO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557C7-E742-4185-8186-F68BF1A9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90950"/>
            <a:ext cx="21717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Prepare content for AI search, answer engines, citations, and structured visibility.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A1B56-FE9D-4420-A8E3-FB8D72FB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267200"/>
            <a:ext cx="25527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C5A63-1204-4FFD-98C4-3E0078EA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21717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C4899"/>
                </a:solidFill>
                <a:latin typeface="Aptos"/>
                <a:ea typeface="Aptos"/>
                <a:cs typeface="Aptos"/>
              </a:defRPr>
            </a:pPr>
            <a:r>
              <a:t>Social media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289670-2CF7-40F1-AF85-6B5EF01A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21717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Social media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7039B0-0086-496A-AD82-78B8CD0B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21717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Prepare, schedule, publish, and listen across key channels with founder review.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C7F27C-2E07-45A6-BF7C-A1D3C267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4267200"/>
            <a:ext cx="25527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CDDDC7-1E18-4F51-9BE4-0E17328B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38650"/>
            <a:ext cx="21717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t>Ad management · upcoming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A4D848-9A89-46D5-833D-1C583F49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43450"/>
            <a:ext cx="21717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Ad management · upcoming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CEF80D-0C89-46F4-B591-E967211C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43500"/>
            <a:ext cx="217170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Extend the same CMO-led workflow into campaign budget and paid acquisition.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EAF82B-7FCF-435A-AF80-6CB31FDB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3812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Flywheel go deck v0.2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7B4374-7781-4007-9C30-AAD8795B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191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10352D-98C1-4F9C-AACD-6D46B2B7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62674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/>
        </p:spPr>
      </p:sp>
    </p:spTree>
    <p:extLst>
      <p:ext uri="{BB962C8B-B14F-4D97-AF65-F5344CB8AC3E}">
        <p14:creationId xmlns:p14="http://schemas.microsoft.com/office/powerpoint/2010/main" val="10904767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5A17B6-22B1-410B-9535-03D2B035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F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000AC-691A-47FC-92FC-3E5486D0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C6072-B53B-4F49-858D-AAEA6EC3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5D85E-E098-4565-9B7D-A2A8F039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762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78C3C-DAD3-441A-BABA-E43464BD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Flywheel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2972A-D101-486D-9548-C92DDC97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47700" y="4286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EA2C0-27BD-45E9-8930-BDC8C342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FOUNDER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359B8-EA5D-4D29-A68E-646DA467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7239000" cy="819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310"/>
                </a:solidFill>
                <a:latin typeface="Aptos Display"/>
                <a:ea typeface="Aptos Display"/>
                <a:cs typeface="Aptos Display"/>
              </a:defRPr>
            </a:pPr>
            <a:r>
              <a:t>Proactive execution with founder control.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7179A-9A26-49A4-84AE-8CF2BD74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858000" cy="666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Flywheel moves work forward and asks for review at the moments that matter.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4F0DD-E802-460A-A77C-8121AD28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067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FA16E-5096-4057-9972-0C73F264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95650"/>
            <a:ext cx="2286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F6CFC-FECA-4FA5-A0F6-4F1D8CCE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16383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CMO proposes direction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154DC-8B50-4613-8DAC-DCF48EB2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2019300" cy="552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Campaign direction and strategy are recommended before execution.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2CBF4-87EB-4BF0-B6BA-1E3F0543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3457575"/>
            <a:ext cx="1619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1FF"/>
          </a:solidFill>
          <a:ln xmlns:a="http://schemas.openxmlformats.org/drawingml/2006/main" w="0"/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3E9B6-3BD2-471C-8C6F-87A6B01B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3067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/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448E68-EE5D-473C-AE78-AE96817C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95650"/>
            <a:ext cx="2286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F03BF-A130-4A6C-91BF-17AF4D7A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33850"/>
            <a:ext cx="16383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Founder confirms 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5617C2-AEC9-46A8-AECF-A403678D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76750"/>
            <a:ext cx="2019300" cy="552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The founder stays in control of the campaign and high-risk actions.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AEAC7-7FA7-4F14-91FC-8A0E7642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3457575"/>
            <a:ext cx="1619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1FF"/>
          </a:solidFill>
          <a:ln xmlns:a="http://schemas.openxmlformats.org/drawingml/2006/main" w="0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C4A02-AA46-4F3D-A3BE-57FEF387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067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/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BC2F9C-0D1A-4D46-B5AB-7A287DFC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95650"/>
            <a:ext cx="2286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7E9F7-2F66-40A5-9A72-5E4CF1C3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33850"/>
            <a:ext cx="16383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Specialists prepare 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6D6DBA-3BCF-480E-A81B-E200AC22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76750"/>
            <a:ext cx="2019300" cy="552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Content, social posts, and insights are generated as review-ready outputs.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F415A4-90FB-4A5E-A00A-483FD052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50" y="3457575"/>
            <a:ext cx="1619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1FF"/>
          </a:solidFill>
          <a:ln xmlns:a="http://schemas.openxmlformats.org/drawingml/2006/main" w="0"/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E98771-6F9A-4C54-9520-D8A38608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6850" y="3067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/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858FD6-7CAE-4C4F-B14A-1A1C2796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95650"/>
            <a:ext cx="2286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D7F5A6-EA57-448B-8A33-A548344A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33850"/>
            <a:ext cx="16383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CMO reports 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36E8DE-14B6-48DC-A995-DA46C810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76750"/>
            <a:ext cx="2019300" cy="552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Results and learnings return to the next campaign loop.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A44AF7-C872-4819-AB99-32D58779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5581650"/>
            <a:ext cx="7315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E7C1DE-7C39-4BD6-82D5-2A6EE816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695950"/>
            <a:ext cx="67437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Default mode: proactive execution with lightweight founder review.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BDA596-155B-4C71-8D21-CCE567D1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3812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Flywheel go deck v0.2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D20531-CB57-4873-B8E6-3B9650DB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191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DFEA0E-877C-4706-9079-69561AD5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62674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</p:spTree>
    <p:extLst>
      <p:ext uri="{BB962C8B-B14F-4D97-AF65-F5344CB8AC3E}">
        <p14:creationId xmlns:p14="http://schemas.microsoft.com/office/powerpoint/2010/main" val="4625099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995DD5-7F81-4A92-96E9-BFC896B3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9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529DC-39EF-4AD8-A232-76F50804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C001A-5D8E-4CAE-9B18-96A954CE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ACD72-998B-4058-9CCE-B1F0DC24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762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3DE22-F14E-4815-8C7D-4432EC55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Flywheel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7073A-D0BA-4563-AB4D-EA76C1FC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47700" y="4286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AB8C9-4CFB-4108-9B6A-0B19F12A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80962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WHY WE WIN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164D6-281C-4A32-8340-C9C20F75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310"/>
                </a:solidFill>
                <a:latin typeface="Aptos Display"/>
                <a:ea typeface="Aptos Display"/>
                <a:cs typeface="Aptos Display"/>
              </a:defRPr>
            </a:pPr>
            <a:r>
              <a:t>Vertical know-how plus proactive execution.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DF6B5-E38E-4B36-B403-1372DF31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858000" cy="666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Generic AI can draft content. Flywheel is built around the marketing workflow small teams need to run every week.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0BF2C-AF3F-4E46-991B-C3A9ED3C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724150"/>
            <a:ext cx="37719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78FB5-D5ED-4968-892F-424D3455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33909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Business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4EC85-2E86-49A3-8D57-E9399662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3390900" cy="-381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Learns brand, competitors, market signals, and user preferences.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59410-B64B-4E94-910C-694195BB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771900"/>
            <a:ext cx="37719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5754CA-5C99-4EB8-8735-24335BB3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33909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Marketing judgment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85928-9838-41DD-972B-B2B2B3AA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3390900" cy="-381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The CMO decides what matters and what should happen next.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B328D-FF9C-4AD2-A6EA-6AE23F0A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819650"/>
            <a:ext cx="37719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2B6E21-1C11-4AB2-84EB-135E0B2D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33909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Execution loop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C1F8F-EAA5-4477-9303-CFB8943A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3390900" cy="-381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Every campaign and review improves the next recommendation.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62FF2-E61D-43E0-89E8-3B443BEB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24150"/>
            <a:ext cx="41910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Flywheel operating loop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1F1B63-06AD-4E5E-9700-3EB6931D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67050"/>
            <a:ext cx="4953000" cy="3619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A repeatable system for deciding, producing, reviewing, and learning.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911C32-BB00-4E9C-B638-BA2EC050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576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1C4073-8980-42F5-8428-CA11EC79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19500"/>
            <a:ext cx="219075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Understand the business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BF7B08-1EF6-4B17-8D49-C535DC9B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38550"/>
            <a:ext cx="285750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Website, brand context, market signals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EA0254-D3C4-4EC5-9A0A-C684346E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148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B5A606-A72A-4B17-9558-C4F59FFB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76700"/>
            <a:ext cx="219075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Prioritize the opportunity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4324D4-1B25-40D2-886D-11613642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95750"/>
            <a:ext cx="285750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CMO chooses the highest-leverage move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9F1617-2584-4AEB-9932-022E0C10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720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FBBE83-F07E-4B73-B7B1-2F4C2E06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33900"/>
            <a:ext cx="219075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Create review-ready work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72FEC7-E5A8-4280-9304-E7727CF7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52950"/>
            <a:ext cx="285750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Specialists prepare content, social, SEO, insights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50CC03-BC60-46DC-990F-8D00A6BA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292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F05CD6-8A19-4379-B2A4-EA853CD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91100"/>
            <a:ext cx="219075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Review and publish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AEB7C0-E4F6-45EC-9AE9-B9F07337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10150"/>
            <a:ext cx="285750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Founder keeps control at key moments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445A4E-151F-4BA2-B58D-029D6D04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864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4A726C-9712-4C2B-9844-9D886696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448300"/>
            <a:ext cx="219075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Update the memory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EDC6D1-19A1-4F2C-B1DF-10DFC65B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467350"/>
            <a:ext cx="2857500" cy="190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Results feed the next campaign decision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78FF25-86EC-4ACF-BD15-EA061B6B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3812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Flywheel go deck v0.2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3868FD-CE88-4C23-8BC3-5BA2F789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191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48D9E3-2160-419F-9131-70C0C228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62674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/>
        </p:spPr>
      </p:sp>
    </p:spTree>
    <p:extLst>
      <p:ext uri="{BB962C8B-B14F-4D97-AF65-F5344CB8AC3E}">
        <p14:creationId xmlns:p14="http://schemas.microsoft.com/office/powerpoint/2010/main" val="14365181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2A76FC-D179-4251-A4E7-73FF3E92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9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51A47-1B80-4806-8C45-D6E73A18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BFDF9-7515-495A-A290-826BBC4A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E93D3-6AC3-4792-B05E-A9E8EB9F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762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9B47F-1826-4A28-90C9-75EEA0B6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Flywheel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49A9F-A3A9-45E7-A48A-659970A8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47700" y="4286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0511A-EADC-43F1-BAF2-11782019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790575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WHO IT IS FOR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4413B-37D4-4F32-BF6E-CAD40689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7905750" cy="819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310"/>
                </a:solidFill>
                <a:latin typeface="Aptos Display"/>
                <a:ea typeface="Aptos Display"/>
                <a:cs typeface="Aptos Display"/>
              </a:defRPr>
            </a:pPr>
            <a:r>
              <a:t>Founder-led businesses that need marketing motion now.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6EF5F-0825-4575-A36B-BDB4A7D1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858000" cy="666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Flywheel starts with the teams that feel marketing pressure before they can justify hiring a full marketing team.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78579-D332-4A51-AACA-A55B09A5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2895600"/>
            <a:ext cx="3181350" cy="19812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130D1-A511-440E-9F88-98C7C1EE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28003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ONE-PERSON COMPANIES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C1470-B5D7-4F77-A1A9-FFCF7C7C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28003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No marketing hire yet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0D0CD-E254-46BB-9B00-92E071B4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2800350" cy="1066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The founder owns the product, sales, support, and marketing decisions at the same time.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29D48-BD93-4B0D-A2E5-4B83CE64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2895600"/>
            <a:ext cx="3181350" cy="19812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7FABB-9427-4D52-A126-9983D3BB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67050"/>
            <a:ext cx="28003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SMBS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CD42D-C6C8-4C8F-8C2B-E09BEEDF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71850"/>
            <a:ext cx="28003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Need repeatable growth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7F62D-6A41-46B8-8845-A857BC57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71900"/>
            <a:ext cx="2800350" cy="1066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They need steady SEO, GEO, content, social, and campaign execution while keeping tool management low.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1A0EE9-9DA2-4A13-AD5D-4689D1FE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2895600"/>
            <a:ext cx="3181350" cy="19812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B1FD19-A4BD-45C9-8892-EE8ECE46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67050"/>
            <a:ext cx="28003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t>EARLY TEAMS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461BD6-490E-45A7-8FDD-1B73838F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71850"/>
            <a:ext cx="280035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Too early for a full team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9289EE-8934-46B7-91BF-971DECD8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71900"/>
            <a:ext cx="2800350" cy="1066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They need a marketing operating rhythm before building a dedicated content, social, SEO, and analytics function.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4C27F5-CCFA-4D3F-8236-02E34CBC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5391150"/>
            <a:ext cx="8839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C94004-ECB8-488B-8DEE-4926682D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505450"/>
            <a:ext cx="82296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The first wedge: businesses with weekly marketing urgency and limited team capacity.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8B093-82B8-4BBB-8B8A-E34573AB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3812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Flywheel go deck v0.2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77AAC9-B62D-404D-B116-BC9334D3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191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C80FD3-90E0-4A53-98AE-1DEED32D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62674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</p:spTree>
    <p:extLst>
      <p:ext uri="{BB962C8B-B14F-4D97-AF65-F5344CB8AC3E}">
        <p14:creationId xmlns:p14="http://schemas.microsoft.com/office/powerpoint/2010/main" val="138348114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CEDF12-62AD-4F2A-AE80-1F9224D3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F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91F1A-27EE-47A4-BC3A-528DBAE2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09B41-CC2A-4976-A80C-7311ABB2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D7233-8685-4FC3-BC57-D0F95310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762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30A3E-F531-4F38-94BB-EBD869BF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Flywheel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B27FD-0FE8-4833-98EE-4B75EF72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47700" y="4286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C6B44-D05C-4BFC-AB1B-D043E643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81915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WHAT WE WANT FROM THE ROOM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AC1AA-8CA4-4892-B5FA-E9A3D98B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8191500" cy="819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310"/>
                </a:solidFill>
                <a:latin typeface="Aptos Display"/>
                <a:ea typeface="Aptos Display"/>
                <a:cs typeface="Aptos Display"/>
              </a:defRPr>
            </a:pPr>
            <a:r>
              <a:t>A focused live demo and the right follow-up conversations.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D9E68-24B4-4DE4-9BA3-50EE60D1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858000" cy="666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The goal: make the new category easy to understand and worth exploring.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8B80B-38B6-454B-8C77-551F67EA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971800"/>
            <a:ext cx="312420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0A4CE-FB75-473F-A1F8-109EB535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432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F877C-41D9-4F6A-B56E-3ABEFCDC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48050"/>
            <a:ext cx="27432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Show the operator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D90FB-49BB-4487-8BC2-FE01456C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2743200" cy="8001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Start from a company URL, then move quickly to business memory, CMO planning, and one review-ready output.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7CDF3-8376-4F44-9BE7-6DBB1C6C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2971800"/>
            <a:ext cx="312420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8E11C-1107-4797-B834-EE6DE0AC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27432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t>PARTNERS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2AD29-E03F-46A1-8038-7B7303E1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48050"/>
            <a:ext cx="27432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Find pilot paths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05B73-A056-4873-9B5D-44525404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48100"/>
            <a:ext cx="2743200" cy="8001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Look for SMB, founder, and ecosystem partners where Flywheel can prove weekly marketing execution value.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17AEA4-B654-4F7E-9CA4-70FD0C65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2971800"/>
            <a:ext cx="312420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375592-D411-448E-BBAD-C22C5E21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27432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t>INVESTORS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C9564F-748F-41F4-AFDA-90A722B3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48050"/>
            <a:ext cx="2743200" cy="400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Earn the second meeting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CC726-6EA0-4983-BFBE-29667818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48100"/>
            <a:ext cx="2743200" cy="8001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Make the thesis clear: small teams need a marketing operator ahead of more prompt boxes or dashboards.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448539-A69D-4BBD-A4FF-30661518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5314950"/>
            <a:ext cx="88773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2A5BEA-3870-4919-9EB0-BBE9A73B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57825"/>
            <a:ext cx="819150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Desired takeaway: Flywheel can become the always-on marketing team for small businesses.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657E48-5B19-4575-A7A0-5ABE78C9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3812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Flywheel go deck v0.2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C0C221-F492-4936-85BF-ED8BBFA9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191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11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4E9829-574D-4029-AD94-777F4571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62674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/>
        </p:spPr>
      </p:sp>
    </p:spTree>
    <p:extLst>
      <p:ext uri="{BB962C8B-B14F-4D97-AF65-F5344CB8AC3E}">
        <p14:creationId xmlns:p14="http://schemas.microsoft.com/office/powerpoint/2010/main" val="3996636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4665CB-F9BC-429B-947E-F2074185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F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C102C-80C0-44F2-A1B4-189668F5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-2190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FD2A3-CDD5-4319-8121-CDC86F68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790700" y="5143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49F88-A13C-4431-9996-6AD55787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762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516FA-9778-4DAE-B55A-08136AF0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Flywheel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B044A-A71A-4A5D-8DCA-358C6792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47700" y="4286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a576291d44669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304800"/>
            <a:ext cx="7048500" cy="4286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053F5-868D-4063-984D-692967C1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3429000"/>
            <a:ext cx="12192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F"/>
          </a:solidFill>
          <a:ln xmlns:a="http://schemas.openxmlformats.org/drawingml/2006/main" w="0"/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2CC88-13FD-4E97-99BA-9A25995C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CLOSING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10158-5647-4FD8-AEC1-42E2C286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7429500" cy="12573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310"/>
                </a:solidFill>
                <a:latin typeface="Aptos Display"/>
                <a:ea typeface="Aptos Display"/>
                <a:cs typeface="Aptos Display"/>
              </a:defRPr>
            </a:pPr>
            <a:r>
              <a:t>Every small business will need an AI marketing operator.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D113F-DB53-453E-AB39-C7EAE855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5619750" cy="4953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Flywheel helps founders and small teams keep marketing moving before they hire a full marketing team.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3707B-49D0-4694-9B02-E912DA18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8100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/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731C7-CE6A-4193-99BB-89B38880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1543050" cy="1714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Live demo ready.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D727BF-9EB1-4D28-ADF7-AC03257F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6191250" cy="3238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310"/>
                </a:solidFill>
                <a:latin typeface="Aptos"/>
                <a:ea typeface="Aptos"/>
                <a:cs typeface="Aptos"/>
              </a:defRPr>
            </a:pPr>
            <a:r>
              <a:t>Looking for pilot users, strategic partners, and follow-up conversations.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D4A13-5338-4784-8927-993420E6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36195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Website: https://mktflywheel.ai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6AF07B-E41F-4FE5-968D-84138923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66675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4555"/>
                </a:solidFill>
                <a:latin typeface="Aptos"/>
                <a:ea typeface="Aptos"/>
                <a:cs typeface="Aptos"/>
              </a:defRPr>
            </a:pPr>
            <a:r>
              <a:t>Proactive AI CMO · Vertical marketing know-how · Campaign execution 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7EE49-A37F-4B71-ADB1-39DBC77F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381250" cy="2095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Flywheel go deck v0.2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642685-E5D6-4B9A-8CFF-1A0F53CA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191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8F98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4B34F0-BDCB-4D6F-B5AD-153FEFC4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62674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310"/>
          </a:solidFill>
          <a:ln xmlns:a="http://schemas.openxmlformats.org/drawingml/2006/main" w="0"/>
        </p:spPr>
      </p:sp>
    </p:spTree>
    <p:extLst>
      <p:ext uri="{BB962C8B-B14F-4D97-AF65-F5344CB8AC3E}">
        <p14:creationId xmlns:p14="http://schemas.microsoft.com/office/powerpoint/2010/main" val="1131843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2026-05-13T03:51:05.6370000Z</dcterms:created>
  <dcterms:modified xsi:type="dcterms:W3CDTF">2026-05-13T03:51:05.6370000Z</dcterms:modified>
</coreProperties>
</file>