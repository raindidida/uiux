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0ab655f26d44965" /><Relationship Type="http://schemas.openxmlformats.org/officeDocument/2006/relationships/extended-properties" Target="/docProps/app.xml" Id="R015b57861ef84c8c" /><Relationship Type="http://schemas.openxmlformats.org/officeDocument/2006/relationships/officeDocument" Target="/ppt/presentation.xml" Id="R33ef938f96f2417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3cc71474647465e"/>
  </p:sldMasterIdLst>
  <p:notesMasterIdLst>
    <p:notesMasterId xmlns:r="http://schemas.openxmlformats.org/officeDocument/2006/relationships" r:id="R8906de8653e54827"/>
  </p:notesMasterIdLst>
  <p:sldIdLst>
    <p:sldId xmlns:r="http://schemas.openxmlformats.org/officeDocument/2006/relationships" id="256" r:id="R9d80614ce1774222"/>
    <p:sldId xmlns:r="http://schemas.openxmlformats.org/officeDocument/2006/relationships" id="257" r:id="Re1d0728e436748de"/>
    <p:sldId xmlns:r="http://schemas.openxmlformats.org/officeDocument/2006/relationships" id="258" r:id="Rd2d3115ff01843e7"/>
    <p:sldId xmlns:r="http://schemas.openxmlformats.org/officeDocument/2006/relationships" id="259" r:id="Rebcb0f36d43144cf"/>
    <p:sldId xmlns:r="http://schemas.openxmlformats.org/officeDocument/2006/relationships" id="260" r:id="R6279d6779ca04218"/>
    <p:sldId xmlns:r="http://schemas.openxmlformats.org/officeDocument/2006/relationships" id="261" r:id="R883bd22a7845471c"/>
    <p:sldId xmlns:r="http://schemas.openxmlformats.org/officeDocument/2006/relationships" id="262" r:id="Ra9ffdf7a07ba4d95"/>
    <p:sldId xmlns:r="http://schemas.openxmlformats.org/officeDocument/2006/relationships" id="263" r:id="R19ff1e7fd90a48b5"/>
    <p:sldId xmlns:r="http://schemas.openxmlformats.org/officeDocument/2006/relationships" id="264" r:id="Rd3115645b18047e3"/>
    <p:sldId xmlns:r="http://schemas.openxmlformats.org/officeDocument/2006/relationships" id="265" r:id="R01021036d67041e2"/>
    <p:sldId xmlns:r="http://schemas.openxmlformats.org/officeDocument/2006/relationships" id="266" r:id="R01d0ba463d384b14"/>
    <p:sldId xmlns:r="http://schemas.openxmlformats.org/officeDocument/2006/relationships" id="267" r:id="R5d435eb5b0e742ff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3cc71474647465e" /><Relationship Type="http://schemas.openxmlformats.org/officeDocument/2006/relationships/theme" Target="/ppt/theme/theme1.xml" Id="R9d6e29a2004c46ad" /><Relationship Type="http://schemas.openxmlformats.org/officeDocument/2006/relationships/notesMaster" Target="/ppt/notesMasters/notesMaster1.xml" Id="R8906de8653e54827" /><Relationship Type="http://schemas.openxmlformats.org/officeDocument/2006/relationships/presProps" Target="/ppt/presProps.xml" Id="R7ed70af59cbb4ef2" /><Relationship Type="http://schemas.openxmlformats.org/officeDocument/2006/relationships/viewProps" Target="/ppt/viewProps.xml" Id="Re7fcbfc09a5a4737" /><Relationship Type="http://schemas.openxmlformats.org/officeDocument/2006/relationships/tableStyles" Target="/ppt/tableStyles.xml" Id="R622bc5db261543f3" /><Relationship Type="http://schemas.openxmlformats.org/officeDocument/2006/relationships/slide" Target="/ppt/slides/slide1.xml" Id="R9d80614ce1774222" /><Relationship Type="http://schemas.openxmlformats.org/officeDocument/2006/relationships/slide" Target="/ppt/slides/slide2.xml" Id="Re1d0728e436748de" /><Relationship Type="http://schemas.openxmlformats.org/officeDocument/2006/relationships/slide" Target="/ppt/slides/slide3.xml" Id="Rd2d3115ff01843e7" /><Relationship Type="http://schemas.openxmlformats.org/officeDocument/2006/relationships/slide" Target="/ppt/slides/slide4.xml" Id="Rebcb0f36d43144cf" /><Relationship Type="http://schemas.openxmlformats.org/officeDocument/2006/relationships/slide" Target="/ppt/slides/slide5.xml" Id="R6279d6779ca04218" /><Relationship Type="http://schemas.openxmlformats.org/officeDocument/2006/relationships/slide" Target="/ppt/slides/slide6.xml" Id="R883bd22a7845471c" /><Relationship Type="http://schemas.openxmlformats.org/officeDocument/2006/relationships/slide" Target="/ppt/slides/slide7.xml" Id="Ra9ffdf7a07ba4d95" /><Relationship Type="http://schemas.openxmlformats.org/officeDocument/2006/relationships/slide" Target="/ppt/slides/slide8.xml" Id="R19ff1e7fd90a48b5" /><Relationship Type="http://schemas.openxmlformats.org/officeDocument/2006/relationships/slide" Target="/ppt/slides/slide9.xml" Id="Rd3115645b18047e3" /><Relationship Type="http://schemas.openxmlformats.org/officeDocument/2006/relationships/slide" Target="/ppt/slides/slide10.xml" Id="R01021036d67041e2" /><Relationship Type="http://schemas.openxmlformats.org/officeDocument/2006/relationships/slide" Target="/ppt/slides/slide11.xml" Id="R01d0ba463d384b14" /><Relationship Type="http://schemas.openxmlformats.org/officeDocument/2006/relationships/slide" Target="/ppt/slides/slide12.xml" Id="R5d435eb5b0e742f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e64746c5637246d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42585112362428c" /><Relationship Type="http://schemas.openxmlformats.org/officeDocument/2006/relationships/notesMaster" Target="/ppt/notesMasters/notesMaster1.xml" Id="R5def381e2d9c40a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16e02b0aace4beb" /><Relationship Type="http://schemas.openxmlformats.org/officeDocument/2006/relationships/notesMaster" Target="/ppt/notesMasters/notesMaster1.xml" Id="R01e499c41b544eb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9466835025b4840" /><Relationship Type="http://schemas.openxmlformats.org/officeDocument/2006/relationships/notesMaster" Target="/ppt/notesMasters/notesMaster1.xml" Id="Re8ca9d742343443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9d0779d7ad6426b" /><Relationship Type="http://schemas.openxmlformats.org/officeDocument/2006/relationships/notesMaster" Target="/ppt/notesMasters/notesMaster1.xml" Id="R887467aaefb64fa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6116ccc40494ae6" /><Relationship Type="http://schemas.openxmlformats.org/officeDocument/2006/relationships/notesMaster" Target="/ppt/notesMasters/notesMaster1.xml" Id="R9d084807b3364fd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00bec5ac4414a90" /><Relationship Type="http://schemas.openxmlformats.org/officeDocument/2006/relationships/notesMaster" Target="/ppt/notesMasters/notesMaster1.xml" Id="Rc33e2ef1d23b44a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21abf0e044c4255" /><Relationship Type="http://schemas.openxmlformats.org/officeDocument/2006/relationships/notesMaster" Target="/ppt/notesMasters/notesMaster1.xml" Id="R62a379a4c4654e5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7af53d2f408467a" /><Relationship Type="http://schemas.openxmlformats.org/officeDocument/2006/relationships/notesMaster" Target="/ppt/notesMasters/notesMaster1.xml" Id="Ra053bcac552443a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e257ea94bba447f" /><Relationship Type="http://schemas.openxmlformats.org/officeDocument/2006/relationships/notesMaster" Target="/ppt/notesMasters/notesMaster1.xml" Id="R8897269b05b5481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3d896913ae943bc" /><Relationship Type="http://schemas.openxmlformats.org/officeDocument/2006/relationships/notesMaster" Target="/ppt/notesMasters/notesMaster1.xml" Id="R326bfc0cde4341a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77dfef45fdc43ac" /><Relationship Type="http://schemas.openxmlformats.org/officeDocument/2006/relationships/notesMaster" Target="/ppt/notesMasters/notesMaster1.xml" Id="R5b89ae0199a347e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bb6ed31623e4276" /><Relationship Type="http://schemas.openxmlformats.org/officeDocument/2006/relationships/notesMaster" Target="/ppt/notesMasters/notesMaster1.xml" Id="Rc4351e05bfe1469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560967bc82e4690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a3e1514a3b7247b5" /><Relationship Type="http://schemas.openxmlformats.org/officeDocument/2006/relationships/slideLayout" Target="/ppt/slideLayouts/slideLayout2.xml" Id="R8f5221b841674dc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f5221b841674dc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b8e44baf2744fa3" /><Relationship Type="http://schemas.openxmlformats.org/officeDocument/2006/relationships/image" Target="/ppt/media/image.png" Id="R191ca5eb39354a7c" /><Relationship Type="http://schemas.openxmlformats.org/officeDocument/2006/relationships/notesSlide" Target="/ppt/notesSlides/notesSlide1.xml" Id="R59ea669fd6dd4f7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c632dc0eaa1456e" /><Relationship Type="http://schemas.openxmlformats.org/officeDocument/2006/relationships/notesSlide" Target="/ppt/notesSlides/notesSlide2.xml" Id="R72eb79a8117142f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8973a5c4f1f4da3" /><Relationship Type="http://schemas.openxmlformats.org/officeDocument/2006/relationships/notesSlide" Target="/ppt/notesSlides/notesSlide3.xml" Id="R5855968abf2f46c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90340250b444d72" /><Relationship Type="http://schemas.openxmlformats.org/officeDocument/2006/relationships/image" Target="/ppt/media/image2.png" Id="Redcc3e2f63d04309" /><Relationship Type="http://schemas.openxmlformats.org/officeDocument/2006/relationships/notesSlide" Target="/ppt/notesSlides/notesSlide4.xml" Id="R8326a5252f7c4db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06c163a76eb4b1b" /><Relationship Type="http://schemas.openxmlformats.org/officeDocument/2006/relationships/notesSlide" Target="/ppt/notesSlides/notesSlide5.xml" Id="R5a20484783844a9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5ff93186c914c15" /><Relationship Type="http://schemas.openxmlformats.org/officeDocument/2006/relationships/image" Target="/ppt/media/image3.png" Id="Rd6ed7178436f492f" /><Relationship Type="http://schemas.openxmlformats.org/officeDocument/2006/relationships/image" Target="/ppt/media/image4.png" Id="R971d6a180e2a41bc" /><Relationship Type="http://schemas.openxmlformats.org/officeDocument/2006/relationships/image" Target="/ppt/media/image5.png" Id="R9484729e4b7f4e78" /><Relationship Type="http://schemas.openxmlformats.org/officeDocument/2006/relationships/image" Target="/ppt/media/image6.png" Id="R1136834d98534b62" /><Relationship Type="http://schemas.openxmlformats.org/officeDocument/2006/relationships/notesSlide" Target="/ppt/notesSlides/notesSlide6.xml" Id="R279fd4ae39e940c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20ecfdee27c4bb1" /><Relationship Type="http://schemas.openxmlformats.org/officeDocument/2006/relationships/notesSlide" Target="/ppt/notesSlides/notesSlide7.xml" Id="R3607c1ffb060453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d63b76923084745" /><Relationship Type="http://schemas.openxmlformats.org/officeDocument/2006/relationships/notesSlide" Target="/ppt/notesSlides/notesSlide8.xml" Id="Rde4f031a57d641d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9d4a040141d4cc1" /><Relationship Type="http://schemas.openxmlformats.org/officeDocument/2006/relationships/notesSlide" Target="/ppt/notesSlides/notesSlide9.xml" Id="R7e0088b5608d4f9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3d31ae510e14186" /><Relationship Type="http://schemas.openxmlformats.org/officeDocument/2006/relationships/notesSlide" Target="/ppt/notesSlides/notesSlide10.xml" Id="Rb6fcc5846baa446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b03cc5d9215469e" /><Relationship Type="http://schemas.openxmlformats.org/officeDocument/2006/relationships/notesSlide" Target="/ppt/notesSlides/notesSlide11.xml" Id="Rbd68fa219460401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a61bde3c3e94733" /><Relationship Type="http://schemas.openxmlformats.org/officeDocument/2006/relationships/image" Target="/ppt/media/image7.png" Id="R0e709b243d0f435e" /><Relationship Type="http://schemas.openxmlformats.org/officeDocument/2006/relationships/notesSlide" Target="/ppt/notesSlides/notesSlide12.xml" Id="R96b081a060614ce7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E389EB1-1288-4A16-9C38-F55F99FF8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F868F9-F0A6-4B6B-8331-A75FDF02F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-2190750"/>
            <a:ext cx="4095750" cy="409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F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514C18-70EF-4A47-AEDD-6964B129C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790700" y="5143500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A6CFBE-ED88-45CC-ACE1-F9465A6F7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6750"/>
            <a:ext cx="685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7DF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F7DF6"/>
                </a:solidFill>
                <a:latin typeface="Aptos"/>
                <a:ea typeface="Aptos"/>
                <a:cs typeface="Aptos"/>
              </a:rPr>
              <a:t>FLYWHEEL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62A4A7-021D-4A96-B36E-6E5E5F6A7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33450"/>
            <a:ext cx="68580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B0F19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0B0F19"/>
                </a:solidFill>
                <a:latin typeface="Aptos Display"/>
                <a:ea typeface="Aptos Display"/>
                <a:cs typeface="Aptos Display"/>
              </a:rPr>
              <a:t>A proactive AI marketing operator for small teams.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CA6A8A-D74A-49C5-A83A-7227BABCF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85950"/>
            <a:ext cx="6572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Flywheel understands each business, spots growth opportunities, turns them into campaigns, and keeps execution moving.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6DEDC0-E4B5-434F-BA32-B28B450E5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43250"/>
            <a:ext cx="1047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2F7DF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D36696-D82D-4620-AAB7-CB2C508E5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19450"/>
            <a:ext cx="781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2F7DF6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2F7DF6"/>
                </a:solidFill>
                <a:latin typeface="Aptos"/>
                <a:ea typeface="Aptos"/>
                <a:cs typeface="Aptos"/>
              </a:rPr>
              <a:t>AI CMO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2E7E85-3950-4C2C-A181-631041927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3143250"/>
            <a:ext cx="114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BF2"/>
          </a:solidFill>
          <a:ln xmlns:a="http://schemas.openxmlformats.org/drawingml/2006/main" w="9525">
            <a:solidFill>
              <a:srgbClr val="12B76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DD261D-CD85-4963-A7A0-627DF52C8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3219450"/>
            <a:ext cx="876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12B76A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12B76A"/>
                </a:solidFill>
                <a:latin typeface="Aptos"/>
                <a:ea typeface="Aptos"/>
                <a:cs typeface="Aptos"/>
              </a:rPr>
              <a:t>Content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DFBDFE-D49A-4484-9E3E-B9C503580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143250"/>
            <a:ext cx="1066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BFF"/>
          </a:solidFill>
          <a:ln xmlns:a="http://schemas.openxmlformats.org/drawingml/2006/main" w="9525">
            <a:solidFill>
              <a:srgbClr val="EC5AF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A4E5AB-86AF-476A-B750-E146FA6C8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219450"/>
            <a:ext cx="800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EC5AF2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EC5AF2"/>
                </a:solidFill>
                <a:latin typeface="Aptos"/>
                <a:ea typeface="Aptos"/>
                <a:cs typeface="Aptos"/>
              </a:rPr>
              <a:t>Social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5D48F7-AE35-4E5C-A548-A7781354F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143250"/>
            <a:ext cx="1104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6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A38CB4-7D69-483C-ADEF-BF1AD5C78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219450"/>
            <a:ext cx="838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Growth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741445-6D01-4EA0-A22C-EB2A30CD4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5334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0F19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B0F19"/>
                </a:solidFill>
                <a:latin typeface="Aptos"/>
                <a:ea typeface="Aptos"/>
                <a:cs typeface="Aptos"/>
              </a:rPr>
              <a:t>Built for SMBs and one-person companies that need marketing motion before they can hire a full team.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87D9F2-3C50-459E-9F88-757D5D6E4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95850"/>
            <a:ext cx="247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55EE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55EEF"/>
                </a:solidFill>
                <a:latin typeface="Aptos"/>
                <a:ea typeface="Aptos"/>
                <a:cs typeface="Aptos"/>
              </a:rPr>
              <a:t>mktflywheel.ai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1ca5eb39354a7c"/>
          <a:stretch xmlns:a="http://schemas.openxmlformats.org/drawingml/2006/main"/>
        </p:blipFill>
        <p:spPr>
          <a:xfrm xmlns:a="http://schemas.openxmlformats.org/drawingml/2006/main">
            <a:off x="6572250" y="1734757"/>
            <a:ext cx="4953000" cy="2893186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DE0B5B7-0382-4A30-96D7-9D1D493E3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57950"/>
            <a:ext cx="228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8A2B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8A2B3"/>
                </a:solidFill>
                <a:latin typeface="Aptos"/>
                <a:ea typeface="Aptos"/>
                <a:cs typeface="Aptos"/>
              </a:rPr>
              <a:t>Flywheel go deck v0.2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4DD9278-9025-4962-A872-9D9FA5585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389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98A2B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98A2B3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45171197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6851B12-4752-4E61-AA7A-DA1B5AE06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80002C-1F54-4F2D-831C-9FEE82DE3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-2190750"/>
            <a:ext cx="4095750" cy="409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F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BB3D4F-1A49-426F-9D92-C5CE9F22E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790700" y="5143500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A4062F-7217-4690-B1AD-DA6E6D103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2450"/>
            <a:ext cx="781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7DF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F7DF6"/>
                </a:solidFill>
                <a:latin typeface="Aptos"/>
                <a:ea typeface="Aptos"/>
                <a:cs typeface="Aptos"/>
              </a:rPr>
              <a:t>WHO FEELS THE PAIN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F684CB-C248-44D1-AE6F-887859CB7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19150"/>
            <a:ext cx="78105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B0F19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0B0F19"/>
                </a:solidFill>
                <a:latin typeface="Aptos Display"/>
                <a:ea typeface="Aptos Display"/>
                <a:cs typeface="Aptos Display"/>
              </a:rPr>
              <a:t>Small businesses need full-team marketing before they can hire one.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07FA82-F2BA-4D00-A508-B45E92E42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71650"/>
            <a:ext cx="6572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A solo founder still needs strategy, content, SEO, social, analytics, campaigns, and decisions every week.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9BE64A-2D62-4372-8675-5211C1F3A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62250"/>
            <a:ext cx="2095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A10FEC-B026-465C-AC23-3CFD54F3F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33700"/>
            <a:ext cx="1752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Founder owns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94111F-9F8F-492B-847F-35E359AC8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81350"/>
            <a:ext cx="1752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B0F19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0B0F19"/>
                </a:solidFill>
                <a:latin typeface="Aptos"/>
                <a:ea typeface="Aptos"/>
                <a:cs typeface="Aptos"/>
              </a:rPr>
              <a:t>Strategy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461DA2-380B-40C7-9C89-80569BAB8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762250"/>
            <a:ext cx="2095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6CB370-60B8-4ABE-99F4-D5F9529CF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933700"/>
            <a:ext cx="1752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Founder owns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A765D3-83E1-4604-BC62-CC8BC86A6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181350"/>
            <a:ext cx="1752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B0F19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0B0F19"/>
                </a:solidFill>
                <a:latin typeface="Aptos"/>
                <a:ea typeface="Aptos"/>
                <a:cs typeface="Aptos"/>
              </a:rPr>
              <a:t>Content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8803D0-DB66-40CD-A2F9-F70AF249A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762250"/>
            <a:ext cx="2095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3F6E1D-8D7F-4ED5-AFFC-D2F12DB49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933700"/>
            <a:ext cx="1752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Founder owns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F40C2F-697C-452D-9F74-2319B3FEB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181350"/>
            <a:ext cx="1752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B0F19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0B0F19"/>
                </a:solidFill>
                <a:latin typeface="Aptos"/>
                <a:ea typeface="Aptos"/>
                <a:cs typeface="Aptos"/>
              </a:rPr>
              <a:t>Channels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7E3508-8772-4B0D-801A-C20308587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762250"/>
            <a:ext cx="2095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05E2EEE-54CC-440F-A9D1-655B7659F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933700"/>
            <a:ext cx="1752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Founder owns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8953CC5-3608-4E04-BBAC-2E1931CDC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181350"/>
            <a:ext cx="1752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B0F19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0B0F19"/>
                </a:solidFill>
                <a:latin typeface="Aptos"/>
                <a:ea typeface="Aptos"/>
                <a:cs typeface="Aptos"/>
              </a:rPr>
              <a:t>Reporting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AFC7F80-0712-4502-9935-FD340C1AF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571750"/>
            <a:ext cx="1257300" cy="1257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19050">
            <a:solidFill>
              <a:srgbClr val="2F7DF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9851339-B69F-4AFC-A52E-3DE5C498F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048000"/>
            <a:ext cx="1257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55EE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55EEF"/>
                </a:solidFill>
                <a:latin typeface="Aptos"/>
                <a:ea typeface="Aptos"/>
                <a:cs typeface="Aptos"/>
              </a:rPr>
              <a:t>CEO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49CF53E-BD96-4204-935D-0D619C039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3981450"/>
            <a:ext cx="1123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0F1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B0F19"/>
                </a:solidFill>
                <a:latin typeface="Aptos"/>
                <a:ea typeface="Aptos"/>
                <a:cs typeface="Aptos"/>
              </a:rPr>
              <a:t>CEO / Founder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77C59AB-BF9D-4D9A-8137-C7CF22494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76750"/>
            <a:ext cx="49530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B98709E-29A9-41B0-BA11-3F29CCB89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76750"/>
            <a:ext cx="571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549423B-5CAF-45EB-9ABF-05EAB918A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686300"/>
            <a:ext cx="4419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0F19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0F19"/>
                </a:solidFill>
                <a:latin typeface="Aptos"/>
                <a:ea typeface="Aptos"/>
                <a:cs typeface="Aptos"/>
              </a:rPr>
              <a:t>The bottleneck is judgment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A29318B-D93D-4C61-A434-05CD593B3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029200"/>
            <a:ext cx="44196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The hard part is deciding the next move and turning that decision into execution.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378FCAE-9461-4E23-BF40-14C40275A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476750"/>
            <a:ext cx="49530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AE441EA-4E0D-4433-A024-56F5A7E07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476750"/>
            <a:ext cx="571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F6"/>
          </a:solidFill>
          <a:ln xmlns:a="http://schemas.openxmlformats.org/drawingml/2006/main" w="0">
            <a:solidFill>
              <a:srgbClr val="2F7DF6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93DD906-200B-4770-84AF-381B91DF4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86300"/>
            <a:ext cx="4419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0F19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0F19"/>
                </a:solidFill>
                <a:latin typeface="Aptos"/>
                <a:ea typeface="Aptos"/>
                <a:cs typeface="Aptos"/>
              </a:rPr>
              <a:t>The work is continuous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A595BC4-6643-495C-8141-54DD2C439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029200"/>
            <a:ext cx="44196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Search, GEO, social, content, and reporting keep moving even when there is no dedicated marketing team.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25B9590-8901-4B6D-8B42-9C58C0B39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57950"/>
            <a:ext cx="228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8A2B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8A2B3"/>
                </a:solidFill>
                <a:latin typeface="Aptos"/>
                <a:ea typeface="Aptos"/>
                <a:cs typeface="Aptos"/>
              </a:rPr>
              <a:t>Flywheel go deck v0.2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4391B40-D40F-4541-BFC6-5FF45E322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389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98A2B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98A2B3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56785044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63F7048-53BF-4880-8192-2E46C9C3A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8B7018-A355-41E3-837B-6DCC75D12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-2190750"/>
            <a:ext cx="4095750" cy="409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F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7408EA-FD2B-4C99-A96B-621475F5C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790700" y="5143500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4BB47A-BD4D-400C-AEC9-63045546D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2450"/>
            <a:ext cx="800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7DF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F7DF6"/>
                </a:solidFill>
                <a:latin typeface="Aptos"/>
                <a:ea typeface="Aptos"/>
                <a:cs typeface="Aptos"/>
              </a:rPr>
              <a:t>WHY EXISTING OPTIONS BREAK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0B1801-E0DC-4491-99CD-2EEFD79FF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19150"/>
            <a:ext cx="80010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B0F19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0B0F19"/>
                </a:solidFill>
                <a:latin typeface="Aptos Display"/>
                <a:ea typeface="Aptos Display"/>
                <a:cs typeface="Aptos Display"/>
              </a:rPr>
              <a:t>The founder is still left acting as the CMO.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A0D6CD-861E-4D79-8321-FFC190AC5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71650"/>
            <a:ext cx="6572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Current tools cover pieces of marketing. The owner still connects context, chooses priorities, and pushes work forward.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C169C0-7681-4DDF-AC5C-516005A3F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24150"/>
            <a:ext cx="3143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9A824C-D64B-40BD-AC36-8B17806B5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14650"/>
            <a:ext cx="2724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2F7DF6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2F7DF6"/>
                </a:solidFill>
                <a:latin typeface="Aptos"/>
                <a:ea typeface="Aptos"/>
                <a:cs typeface="Aptos"/>
              </a:rPr>
              <a:t>GENERIC AI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BECD7F-42B6-4B2F-A8CB-BAD92B7B0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62300"/>
            <a:ext cx="2724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0F19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B0F19"/>
                </a:solidFill>
                <a:latin typeface="Aptos"/>
                <a:ea typeface="Aptos"/>
                <a:cs typeface="Aptos"/>
              </a:rPr>
              <a:t>Prompt-level drafting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D62964-9A08-477C-97A0-A5EA26ADC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43300"/>
            <a:ext cx="27241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Chat tools can write posts and brainstorm ideas. Ownership stays with the founder.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5AA45F-3384-4E46-8418-7AFB3E203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724150"/>
            <a:ext cx="3143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B8C426-D03C-4161-8DAB-4C10830BC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914650"/>
            <a:ext cx="2724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2B76A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2B76A"/>
                </a:solidFill>
                <a:latin typeface="Aptos"/>
                <a:ea typeface="Aptos"/>
                <a:cs typeface="Aptos"/>
              </a:rPr>
              <a:t>MARKETING SAAS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D25E41-9976-4F41-B224-6DF5E622E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162300"/>
            <a:ext cx="2724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0F19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B0F19"/>
                </a:solidFill>
                <a:latin typeface="Aptos"/>
                <a:ea typeface="Aptos"/>
                <a:cs typeface="Aptos"/>
              </a:rPr>
              <a:t>Workflow layer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E7CD65-E2E1-449F-B81C-4FCFD865E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543300"/>
            <a:ext cx="27241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Dashboards, CRMs, and calendars organize activity. The founder still chooses the next move for this business.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5BBFD9-10B6-4E85-8628-4FCD6E5DD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724150"/>
            <a:ext cx="3143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1DA8BE-DA6C-433C-AC42-8CF7FB48F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914650"/>
            <a:ext cx="2724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AGENCY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9C4CA4-827F-402B-8D56-430210050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162300"/>
            <a:ext cx="2724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0F19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B0F19"/>
                </a:solidFill>
                <a:latin typeface="Aptos"/>
                <a:ea typeface="Aptos"/>
                <a:cs typeface="Aptos"/>
              </a:rPr>
              <a:t>External service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BB3252B-904E-44C9-BFE3-E1BBE06AB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543300"/>
            <a:ext cx="27241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Agencies add capacity, with higher cost, slower iteration, and less weekly control for early teams.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BF547A8-EDC0-4D41-9332-9EC669157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29200"/>
            <a:ext cx="107251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F7DF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8186EA5-1E2D-480D-9922-BBB86A316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257800"/>
            <a:ext cx="10001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55EE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55EEF"/>
                </a:solidFill>
                <a:latin typeface="Aptos"/>
                <a:ea typeface="Aptos"/>
                <a:cs typeface="Aptos"/>
              </a:rPr>
              <a:t>Flywheel is built to be the missing marketing operator: business memory + marketing judgment + execution loop.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393EA8C-669F-417F-85CE-19BA57107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57950"/>
            <a:ext cx="228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8A2B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8A2B3"/>
                </a:solidFill>
                <a:latin typeface="Aptos"/>
                <a:ea typeface="Aptos"/>
                <a:cs typeface="Aptos"/>
              </a:rPr>
              <a:t>Flywheel go deck v0.2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15B524F-0F21-4B26-8E47-808853356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389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98A2B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98A2B3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63443972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88885FC-6631-4C76-8817-2AB4BA361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12D107-146F-4111-85C5-647CB2F50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-2190750"/>
            <a:ext cx="4095750" cy="409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F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B12370-CE34-4C22-A3CC-DE8D2EF75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790700" y="5143500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90E49F-EC23-42C8-AFEF-169D3CA9A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2450"/>
            <a:ext cx="6762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7DF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F7DF6"/>
                </a:solidFill>
                <a:latin typeface="Aptos"/>
                <a:ea typeface="Aptos"/>
                <a:cs typeface="Aptos"/>
              </a:rPr>
              <a:t>WHAT FLYWHEEL DOES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99D50B-15D7-4E96-8633-DEA33E3E2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19150"/>
            <a:ext cx="67627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B0F19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0B0F19"/>
                </a:solidFill>
                <a:latin typeface="Aptos Display"/>
                <a:ea typeface="Aptos Display"/>
                <a:cs typeface="Aptos Display"/>
              </a:rPr>
              <a:t>It turns business context into marketing work.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D9B0EC-4741-47EF-B01F-7E6C79BB9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71650"/>
            <a:ext cx="6572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The CMO makes the call. Specialist agents produce the assets. The founder reviews the moments that matter.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cc3e2f63d04309"/>
          <a:stretch xmlns:a="http://schemas.openxmlformats.org/drawingml/2006/main"/>
        </p:blipFill>
        <p:spPr>
          <a:xfrm xmlns:a="http://schemas.openxmlformats.org/drawingml/2006/main">
            <a:off x="6810375" y="1583220"/>
            <a:ext cx="4191000" cy="125316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F83DFD-1A82-4E8E-A013-D91B6352C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86100"/>
            <a:ext cx="323850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A64504-C06C-4165-9494-5BFAE1137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86100"/>
            <a:ext cx="5715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F6"/>
          </a:solidFill>
          <a:ln xmlns:a="http://schemas.openxmlformats.org/drawingml/2006/main" w="0">
            <a:solidFill>
              <a:srgbClr val="2F7DF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5627D7-2543-4021-A22F-2C8AB9CDF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95650"/>
            <a:ext cx="2705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0F19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0F19"/>
                </a:solidFill>
                <a:latin typeface="Aptos"/>
                <a:ea typeface="Aptos"/>
                <a:cs typeface="Aptos"/>
              </a:rPr>
              <a:t>AI CMO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F7B715-4CD9-431A-89C7-1690D9996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38550"/>
            <a:ext cx="27051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Owns strategy, prioritization, coordination, and reporting.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903D64-C1B1-4A3F-A26B-2318D47EB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086100"/>
            <a:ext cx="323850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601711-EB49-44E7-ABE0-BD90C8E69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086100"/>
            <a:ext cx="5715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B76A"/>
          </a:solidFill>
          <a:ln xmlns:a="http://schemas.openxmlformats.org/drawingml/2006/main" w="0">
            <a:solidFill>
              <a:srgbClr val="12B76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554ED1-486E-4027-9229-7156E5969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295650"/>
            <a:ext cx="2705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0F19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0F19"/>
                </a:solidFill>
                <a:latin typeface="Aptos"/>
                <a:ea typeface="Aptos"/>
                <a:cs typeface="Aptos"/>
              </a:rPr>
              <a:t>Content Specialist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7C9910-DF27-40E5-8419-DD650AA59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638550"/>
            <a:ext cx="27051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Creates and improves SEO / GEO-ready content assets.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95C4AE-3F5B-409F-A380-C98027C07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086100"/>
            <a:ext cx="323850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CFA55BE-2EE4-4290-A22A-986878926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086100"/>
            <a:ext cx="5715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5AF2"/>
          </a:solidFill>
          <a:ln xmlns:a="http://schemas.openxmlformats.org/drawingml/2006/main" w="0">
            <a:solidFill>
              <a:srgbClr val="EC5AF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7540221-00AF-4DA8-9BBE-703796DB5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295650"/>
            <a:ext cx="2705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0F19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0F19"/>
                </a:solidFill>
                <a:latin typeface="Aptos"/>
                <a:ea typeface="Aptos"/>
                <a:cs typeface="Aptos"/>
              </a:rPr>
              <a:t>Social Media Specialist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FBA3DA2-067D-4602-9B9A-E7760334E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638550"/>
            <a:ext cx="27051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Prepares, schedules, publishes, and listens across channels.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046BD7B-8E1F-4108-AF70-CC190AD8C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667250"/>
            <a:ext cx="323850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57371CB-08B7-4895-A638-90A4F69AD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667250"/>
            <a:ext cx="5715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AA86672-4F11-4500-85E0-0D8833FE1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876800"/>
            <a:ext cx="2705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0F19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0F19"/>
                </a:solidFill>
                <a:latin typeface="Aptos"/>
                <a:ea typeface="Aptos"/>
                <a:cs typeface="Aptos"/>
              </a:rPr>
              <a:t>Growth Analyst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B888922-6CB6-44ED-AA83-05D7EC5C8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5219700"/>
            <a:ext cx="27051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Tracks market signals, competitors, and growth opportunities.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7E1DFF3-DE7E-425F-9DE6-8180C6D6E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33950"/>
            <a:ext cx="3143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0F19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B0F19"/>
                </a:solidFill>
                <a:latin typeface="Aptos"/>
                <a:ea typeface="Aptos"/>
                <a:cs typeface="Aptos"/>
              </a:rPr>
              <a:t>A marketing team loop.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32B78C5-04C8-4282-B7A2-B9E58B4DE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57950"/>
            <a:ext cx="228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8A2B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8A2B3"/>
                </a:solidFill>
                <a:latin typeface="Aptos"/>
                <a:ea typeface="Aptos"/>
                <a:cs typeface="Aptos"/>
              </a:rPr>
              <a:t>Flywheel go deck v0.2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CFB46DD-7C9B-43D7-97CD-994072F1B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389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98A2B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98A2B3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41171716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89DA9D0-F6A7-4173-B7CC-944343E24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2CDB12-DB6A-468D-838F-334EB5BFF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-2190750"/>
            <a:ext cx="4095750" cy="409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F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83527E-1809-4363-B90C-64BB6C2FD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790700" y="5143500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158AAD-DDC5-461D-9B8D-7D9BA4EDA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2450"/>
            <a:ext cx="7429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7DF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F7DF6"/>
                </a:solidFill>
                <a:latin typeface="Aptos"/>
                <a:ea typeface="Aptos"/>
                <a:cs typeface="Aptos"/>
              </a:rPr>
              <a:t>HOW IT WORKS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3B917A-CFC9-4515-9FAF-FE2C4132E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19150"/>
            <a:ext cx="74295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B0F19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0B0F19"/>
                </a:solidFill>
                <a:latin typeface="Aptos Display"/>
                <a:ea typeface="Aptos Display"/>
                <a:cs typeface="Aptos Display"/>
              </a:rPr>
              <a:t>From business memory to campaign execution.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2D7BEF-06E9-4DD7-BC6D-F08D0A53E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71650"/>
            <a:ext cx="6572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The scan is only the entry point. The product is the loop that keeps marketing moving.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53E108-0132-49AD-97A0-D0ABFF617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514725"/>
            <a:ext cx="1047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A"/>
          </a:solidFill>
          <a:ln xmlns:a="http://schemas.openxmlformats.org/drawingml/2006/main" w="0">
            <a:solidFill>
              <a:srgbClr val="D8E0E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906660-BB8E-47E6-941B-3D835EC3F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62300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DF6"/>
          </a:solidFill>
          <a:ln xmlns:a="http://schemas.openxmlformats.org/drawingml/2006/main" w="19050">
            <a:solidFill>
              <a:srgbClr val="2F7DF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BD1294-8131-44DD-93FC-66001A412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409950"/>
            <a:ext cx="38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90BCD8-C0EE-429A-93FA-DB12A5734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457575"/>
            <a:ext cx="381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" tIns="0" rIns="9525" bIns="0" anchor="t"/>
          <a:lstStyle xmlns:a="http://schemas.openxmlformats.org/drawingml/2006/main"/>
          <a:p xmlns:a="http://schemas.openxmlformats.org/drawingml/2006/main">
            <a:pPr algn="ctr">
              <a:defRPr sz="58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58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SCAN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46DD6C-8530-45B2-BD7A-417EF9630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76700"/>
            <a:ext cx="914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0B0F19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0B0F19"/>
                </a:solidFill>
                <a:latin typeface="Aptos"/>
                <a:ea typeface="Aptos"/>
                <a:cs typeface="Aptos"/>
              </a:rPr>
              <a:t>Scan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C41D1F-745F-44F5-BB64-C6F5D56E4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86250"/>
            <a:ext cx="11049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Company URL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2BBCA7-129D-4FE6-A2F7-89A9ECD5E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514725"/>
            <a:ext cx="1047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A"/>
          </a:solidFill>
          <a:ln xmlns:a="http://schemas.openxmlformats.org/drawingml/2006/main" w="0">
            <a:solidFill>
              <a:srgbClr val="D8E0E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12A50D-0ADC-44DA-AC48-80E8EE752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162300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0E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262CC4-4E0C-462C-ACC0-DA47C308A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409950"/>
            <a:ext cx="38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801FCA-6D63-4357-A56D-61AFB8862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457575"/>
            <a:ext cx="381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" tIns="0" rIns="9525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2F7DF6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2F7DF6"/>
                </a:solidFill>
                <a:latin typeface="Aptos"/>
                <a:ea typeface="Aptos"/>
                <a:cs typeface="Aptos"/>
              </a:rPr>
              <a:t>MEM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CA3A371-6459-46BA-87EF-6349D2DF0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076700"/>
            <a:ext cx="914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0B0F19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0B0F19"/>
                </a:solidFill>
                <a:latin typeface="Aptos"/>
                <a:ea typeface="Aptos"/>
                <a:cs typeface="Aptos"/>
              </a:rPr>
              <a:t>Learn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5BF6BD3-C52D-428D-80BD-777FAD262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286250"/>
            <a:ext cx="11049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Brand knowledge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D3ED38D-FF65-496F-89A0-BCC6FE45D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514725"/>
            <a:ext cx="1047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A"/>
          </a:solidFill>
          <a:ln xmlns:a="http://schemas.openxmlformats.org/drawingml/2006/main" w="0">
            <a:solidFill>
              <a:srgbClr val="D8E0E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E835E84-754A-4502-BBA9-88715FD25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162300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0E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4C38AF5-4822-4CBD-B510-50A7A3975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3409950"/>
            <a:ext cx="38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30D2272-47DD-46BB-AC79-26ADF7C60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3457575"/>
            <a:ext cx="381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" tIns="0" rIns="9525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2F7DF6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2F7DF6"/>
                </a:solidFill>
                <a:latin typeface="Aptos"/>
                <a:ea typeface="Aptos"/>
                <a:cs typeface="Aptos"/>
              </a:rPr>
              <a:t>OPP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97BE530-190A-42F6-88ED-95C87FDC0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076700"/>
            <a:ext cx="914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0B0F19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0B0F19"/>
                </a:solidFill>
                <a:latin typeface="Aptos"/>
                <a:ea typeface="Aptos"/>
                <a:cs typeface="Aptos"/>
              </a:rPr>
              <a:t>Plan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C90A555-04ED-4E07-A2C0-7C0EB2DB7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286250"/>
            <a:ext cx="11049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Growth strategy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1E26918-8E97-40D7-BA20-FE8A807E9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514725"/>
            <a:ext cx="1047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A"/>
          </a:solidFill>
          <a:ln xmlns:a="http://schemas.openxmlformats.org/drawingml/2006/main" w="0">
            <a:solidFill>
              <a:srgbClr val="D8E0E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2F32672-CE19-4723-B5D4-9E02B338E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162300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0E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7DB1266-08F5-40D8-9A5A-762DF5459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409950"/>
            <a:ext cx="38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24D8176-C8DE-4AE8-8943-0AEE3BE73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457575"/>
            <a:ext cx="381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" tIns="0" rIns="9525" bIns="0" anchor="t"/>
          <a:lstStyle xmlns:a="http://schemas.openxmlformats.org/drawingml/2006/main"/>
          <a:p xmlns:a="http://schemas.openxmlformats.org/drawingml/2006/main">
            <a:pPr algn="ctr">
              <a:defRPr sz="585" b="1">
                <a:solidFill>
                  <a:srgbClr val="2F7DF6"/>
                </a:solidFill>
                <a:latin typeface="Aptos"/>
                <a:ea typeface="Aptos"/>
                <a:cs typeface="Aptos"/>
              </a:defRPr>
            </a:pPr>
            <a:r>
              <a:rPr sz="585" b="1">
                <a:solidFill>
                  <a:srgbClr val="2F7DF6"/>
                </a:solidFill>
                <a:latin typeface="Aptos"/>
                <a:ea typeface="Aptos"/>
                <a:cs typeface="Aptos"/>
              </a:rPr>
              <a:t>PLAN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ACFAAA7-F1A1-460E-B3F9-75CC7406A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076700"/>
            <a:ext cx="914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0B0F19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0B0F19"/>
                </a:solidFill>
                <a:latin typeface="Aptos"/>
                <a:ea typeface="Aptos"/>
                <a:cs typeface="Aptos"/>
              </a:rPr>
              <a:t>Build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C987BB7-C465-4567-8638-591ED4027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4286250"/>
            <a:ext cx="11049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Campaign plan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7F22D97-F0CB-4831-93CD-19B4FEE3C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514725"/>
            <a:ext cx="1047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A"/>
          </a:solidFill>
          <a:ln xmlns:a="http://schemas.openxmlformats.org/drawingml/2006/main" w="0">
            <a:solidFill>
              <a:srgbClr val="D8E0EA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980BF42-718C-4E21-A2E4-771D6A54D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162300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0EA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E94AD5A-1392-48DE-BB37-634DC187D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409950"/>
            <a:ext cx="38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8973BFD-A1D6-4D50-9D4B-D5B39735F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457575"/>
            <a:ext cx="381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" tIns="0" rIns="9525" bIns="0" anchor="t"/>
          <a:lstStyle xmlns:a="http://schemas.openxmlformats.org/drawingml/2006/main"/>
          <a:p xmlns:a="http://schemas.openxmlformats.org/drawingml/2006/main">
            <a:pPr algn="ctr">
              <a:defRPr sz="585" b="1">
                <a:solidFill>
                  <a:srgbClr val="2F7DF6"/>
                </a:solidFill>
                <a:latin typeface="Aptos"/>
                <a:ea typeface="Aptos"/>
                <a:cs typeface="Aptos"/>
              </a:defRPr>
            </a:pPr>
            <a:r>
              <a:rPr sz="585" b="1">
                <a:solidFill>
                  <a:srgbClr val="2F7DF6"/>
                </a:solidFill>
                <a:latin typeface="Aptos"/>
                <a:ea typeface="Aptos"/>
                <a:cs typeface="Aptos"/>
              </a:rPr>
              <a:t>WORK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202B08C-64EA-44DE-831E-FAD3080F6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076700"/>
            <a:ext cx="914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0B0F19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0B0F19"/>
                </a:solidFill>
                <a:latin typeface="Aptos"/>
                <a:ea typeface="Aptos"/>
                <a:cs typeface="Aptos"/>
              </a:rPr>
              <a:t>Execute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2544EA7-8FF7-447A-91AF-B37106E3B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286250"/>
            <a:ext cx="11049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Specialists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658F37E-2353-4C4B-B263-8DF5B0C2B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514725"/>
            <a:ext cx="1047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A"/>
          </a:solidFill>
          <a:ln xmlns:a="http://schemas.openxmlformats.org/drawingml/2006/main" w="0">
            <a:solidFill>
              <a:srgbClr val="D8E0EA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F9F11C6-061E-4F2C-A8DB-88F1733C7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162300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0EA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D254217-1601-4C81-A036-55E0F8065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409950"/>
            <a:ext cx="38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3989390-6ECB-4063-AC88-F8E50A796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457575"/>
            <a:ext cx="381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" tIns="0" rIns="9525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2F7DF6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2F7DF6"/>
                </a:solidFill>
                <a:latin typeface="Aptos"/>
                <a:ea typeface="Aptos"/>
                <a:cs typeface="Aptos"/>
              </a:rPr>
              <a:t>OK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43733BE-7683-47C7-9EDF-5D10AD723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076700"/>
            <a:ext cx="914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0B0F19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0B0F19"/>
                </a:solidFill>
                <a:latin typeface="Aptos"/>
                <a:ea typeface="Aptos"/>
                <a:cs typeface="Aptos"/>
              </a:rPr>
              <a:t>Review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B4BB9F5-D4C8-4572-8B81-DE11E1FF8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286250"/>
            <a:ext cx="11049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Founder control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FAE2DEA-6D7A-4274-9D0D-431B4E641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162300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0EA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EA03BA3-6D37-4C37-9551-D3C9C17C6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3409950"/>
            <a:ext cx="38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B0291E5-8AFB-40A8-82BE-4438D8E55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3457575"/>
            <a:ext cx="381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" tIns="0" rIns="9525" bIns="0" anchor="t"/>
          <a:lstStyle xmlns:a="http://schemas.openxmlformats.org/drawingml/2006/main"/>
          <a:p xmlns:a="http://schemas.openxmlformats.org/drawingml/2006/main">
            <a:pPr algn="ctr">
              <a:defRPr sz="585" b="1">
                <a:solidFill>
                  <a:srgbClr val="2F7DF6"/>
                </a:solidFill>
                <a:latin typeface="Aptos"/>
                <a:ea typeface="Aptos"/>
                <a:cs typeface="Aptos"/>
              </a:defRPr>
            </a:pPr>
            <a:r>
              <a:rPr sz="585" b="1">
                <a:solidFill>
                  <a:srgbClr val="2F7DF6"/>
                </a:solidFill>
                <a:latin typeface="Aptos"/>
                <a:ea typeface="Aptos"/>
                <a:cs typeface="Aptos"/>
              </a:rPr>
              <a:t>LOOP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DC4DD54-3B06-4D1F-AC1F-3FA63399C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076700"/>
            <a:ext cx="914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0B0F19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0B0F19"/>
                </a:solidFill>
                <a:latin typeface="Aptos"/>
                <a:ea typeface="Aptos"/>
                <a:cs typeface="Aptos"/>
              </a:rPr>
              <a:t>Improve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EF0D265-DAC1-488E-B736-FD6D07253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286250"/>
            <a:ext cx="11049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Learning loop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358ABCD-4C98-4445-8D01-D2B04EEEC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219700"/>
            <a:ext cx="9658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2F7DF6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3E3647F-B8A2-4C1C-ACDE-47E04C5F4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391150"/>
            <a:ext cx="9086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88" b="1">
                <a:solidFill>
                  <a:srgbClr val="155EEF"/>
                </a:solidFill>
                <a:latin typeface="Aptos"/>
                <a:ea typeface="Aptos"/>
                <a:cs typeface="Aptos"/>
              </a:defRPr>
            </a:pPr>
            <a:r>
              <a:rPr sz="1088" b="1">
                <a:solidFill>
                  <a:srgbClr val="155EEF"/>
                </a:solidFill>
                <a:latin typeface="Aptos"/>
                <a:ea typeface="Aptos"/>
                <a:cs typeface="Aptos"/>
              </a:rPr>
              <a:t>Website scan -&gt; Business memory -&gt; Growth opportunity -&gt; Campaign plan -&gt; Specialist execution -&gt; Founder review -&gt; Learning loop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D40C044-3994-4285-A454-4FA9E84D3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57950"/>
            <a:ext cx="228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8A2B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8A2B3"/>
                </a:solidFill>
                <a:latin typeface="Aptos"/>
                <a:ea typeface="Aptos"/>
                <a:cs typeface="Aptos"/>
              </a:rPr>
              <a:t>Flywheel go deck v0.2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51F1B74-B951-49CC-B33D-FB117B16D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389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98A2B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98A2B3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449503326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CE61A03-0020-4261-96E8-B5C415872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609E5F-607E-4444-98C2-DCC167594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-2190750"/>
            <a:ext cx="4095750" cy="409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F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D9F6D5-3F2F-4484-97AF-9DDAB9844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790700" y="5143500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5B8360-0871-44EC-AFB4-C817FF685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2450"/>
            <a:ext cx="723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7DF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F7DF6"/>
                </a:solidFill>
                <a:latin typeface="Aptos"/>
                <a:ea typeface="Aptos"/>
                <a:cs typeface="Aptos"/>
              </a:rPr>
              <a:t>WHAT THE DEMO SHOULD SHOW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26BBC4-69EA-4688-B7A8-AC50BC795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19150"/>
            <a:ext cx="72390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B0F19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0B0F19"/>
                </a:solidFill>
                <a:latin typeface="Aptos Display"/>
                <a:ea typeface="Aptos Display"/>
                <a:cs typeface="Aptos Display"/>
              </a:rPr>
              <a:t>The demo starts with a scan and lands on work in motion.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CB6A7F-8AB1-4573-A1AC-FEF418E2F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71650"/>
            <a:ext cx="6572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The audience should see Flywheel move from a company URL to CMO judgment and review-ready marketing output.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E999B6-1D59-491C-B066-957EA7241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90850"/>
            <a:ext cx="2381250" cy="2209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ed7178436f492f"/>
          <a:stretch xmlns:a="http://schemas.openxmlformats.org/drawingml/2006/main"/>
        </p:blipFill>
        <p:spPr>
          <a:xfrm xmlns:a="http://schemas.openxmlformats.org/drawingml/2006/main">
            <a:off x="1548639" y="3143250"/>
            <a:ext cx="731772" cy="106680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DA1BE4-1352-453B-A199-51EDDDF26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00550"/>
            <a:ext cx="304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7DF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F7DF6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C57E85-A9C7-4BBB-9984-D4051C91B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362450"/>
            <a:ext cx="1619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0F19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0F19"/>
                </a:solidFill>
                <a:latin typeface="Aptos"/>
                <a:ea typeface="Aptos"/>
                <a:cs typeface="Aptos"/>
              </a:rPr>
              <a:t>Enter URL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B04D54-013E-46E0-81EB-263BAB8FB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705350"/>
            <a:ext cx="2019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Landing input starts the scan.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F1E6F6-F027-48EF-B775-BFD5A2A09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990850"/>
            <a:ext cx="2381250" cy="2209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1d6a180e2a41bc"/>
          <a:stretch xmlns:a="http://schemas.openxmlformats.org/drawingml/2006/main"/>
        </p:blipFill>
        <p:spPr>
          <a:xfrm xmlns:a="http://schemas.openxmlformats.org/drawingml/2006/main">
            <a:off x="4007661" y="3143250"/>
            <a:ext cx="1376328" cy="106680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70CEB9-1E94-4FDF-9492-A0D7BB1BC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400550"/>
            <a:ext cx="304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7DF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F7DF6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209F81-1C44-474F-B5BF-058A6CDA9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4362450"/>
            <a:ext cx="1619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0F19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0F19"/>
                </a:solidFill>
                <a:latin typeface="Aptos"/>
                <a:ea typeface="Aptos"/>
                <a:cs typeface="Aptos"/>
              </a:rPr>
              <a:t>Learn business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C65A80-2174-4DB7-97E1-19982AB43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705350"/>
            <a:ext cx="2019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Initial brand and market read.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81512D5-A5EB-4EC5-BB58-AC7BD3D50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990850"/>
            <a:ext cx="2381250" cy="2209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84729e4b7f4e78"/>
          <a:stretch xmlns:a="http://schemas.openxmlformats.org/drawingml/2006/main"/>
        </p:blipFill>
        <p:spPr>
          <a:xfrm xmlns:a="http://schemas.openxmlformats.org/drawingml/2006/main">
            <a:off x="7111239" y="3143250"/>
            <a:ext cx="731772" cy="1066800"/>
          </a:xfrm>
          <a:prstGeom xmlns:a="http://schemas.openxmlformats.org/drawingml/2006/main" prst="rect">
            <a:avLst/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54E0FD6-FD02-4CF4-8E06-1CD618F14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400550"/>
            <a:ext cx="304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7DF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F7DF6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479B194-BBBC-45B2-B2CD-67CD9ED3F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362450"/>
            <a:ext cx="1619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0F19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0F19"/>
                </a:solidFill>
                <a:latin typeface="Aptos"/>
                <a:ea typeface="Aptos"/>
                <a:cs typeface="Aptos"/>
              </a:rPr>
              <a:t>CMO plans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B8F9B15-3E51-4ADF-BC34-E00C58F3F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705350"/>
            <a:ext cx="2019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Strategy becomes a campaign.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80D40A3-4386-4AFE-8E10-4B1532F07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990850"/>
            <a:ext cx="2381250" cy="2209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36834d98534b62"/>
          <a:stretch xmlns:a="http://schemas.openxmlformats.org/drawingml/2006/main"/>
        </p:blipFill>
        <p:spPr>
          <a:xfrm xmlns:a="http://schemas.openxmlformats.org/drawingml/2006/main">
            <a:off x="9892539" y="3143250"/>
            <a:ext cx="731772" cy="1066800"/>
          </a:xfrm>
          <a:prstGeom xmlns:a="http://schemas.openxmlformats.org/drawingml/2006/main" prst="rect">
            <a:avLst/>
          </a:prstGeom>
        </p:spPr>
      </p:pic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BCEA752-ECC7-4470-B847-4776688B0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400550"/>
            <a:ext cx="304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7DF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F7DF6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30075A8-A838-477B-8640-92860C1E0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4362450"/>
            <a:ext cx="1619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0F19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0F19"/>
                </a:solidFill>
                <a:latin typeface="Aptos"/>
                <a:ea typeface="Aptos"/>
                <a:cs typeface="Aptos"/>
              </a:rPr>
              <a:t>Review work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4D5F160-9B45-4061-AEDE-38EA9AEC7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705350"/>
            <a:ext cx="2019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Founder approves the key outputs.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8F13056-DB6C-4B1F-8AAA-1AA713C16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81650"/>
            <a:ext cx="952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0F19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B0F19"/>
                </a:solidFill>
                <a:latin typeface="Aptos"/>
                <a:ea typeface="Aptos"/>
                <a:cs typeface="Aptos"/>
              </a:rPr>
              <a:t>Viewer takeaway: the URL scan becomes the onboarding moment for an always-on AI marketing team.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FD8F475-E7FA-4BCB-BB53-F604D56C0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57950"/>
            <a:ext cx="228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8A2B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8A2B3"/>
                </a:solidFill>
                <a:latin typeface="Aptos"/>
                <a:ea typeface="Aptos"/>
                <a:cs typeface="Aptos"/>
              </a:rPr>
              <a:t>Flywheel go deck v0.2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3C39565-4D4D-42FF-B602-179096A85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389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98A2B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98A2B3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397241778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4DA4F39-EF65-405F-A5B4-9873D9026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F02134-B884-4E70-BF00-7850537A8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-2190750"/>
            <a:ext cx="4095750" cy="409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F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F75BE9-622F-44EC-9DF4-760EF9745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790700" y="5143500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106936-D33E-4957-BC2D-BB1FF6DC7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2450"/>
            <a:ext cx="819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7DF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F7DF6"/>
                </a:solidFill>
                <a:latin typeface="Aptos"/>
                <a:ea typeface="Aptos"/>
                <a:cs typeface="Aptos"/>
              </a:rPr>
              <a:t>EXECUTION AREAS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34DBEE-76F7-48F3-B903-F0ED61AFE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19150"/>
            <a:ext cx="81915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B0F19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0B0F19"/>
                </a:solidFill>
                <a:latin typeface="Aptos Display"/>
                <a:ea typeface="Aptos Display"/>
                <a:cs typeface="Aptos Display"/>
              </a:rPr>
              <a:t>Built for the marketing work small teams actually need.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7815E9-0CCE-4C26-BBA4-BDBDB1AB4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71650"/>
            <a:ext cx="6572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Flywheel focuses on the high-leverage channels where founders feel execution pressure every week.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0E8FB7-20D2-4CF1-8E11-4C7560BE7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76550"/>
            <a:ext cx="49530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B4030C-E598-41D7-B508-228573FFC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76550"/>
            <a:ext cx="571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F6"/>
          </a:solidFill>
          <a:ln xmlns:a="http://schemas.openxmlformats.org/drawingml/2006/main" w="0">
            <a:solidFill>
              <a:srgbClr val="2F7DF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1C530E-FDBA-4F3D-8463-495957D29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086100"/>
            <a:ext cx="4419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0F19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0F19"/>
                </a:solidFill>
                <a:latin typeface="Aptos"/>
                <a:ea typeface="Aptos"/>
                <a:cs typeface="Aptos"/>
              </a:rPr>
              <a:t>SEO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2D80FB-E523-4D24-8969-A074BFC35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429000"/>
            <a:ext cx="44196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Improve search visibility, landing page quality, and content discoverability.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693CD0-E616-49DA-8DCC-07EE3259D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876550"/>
            <a:ext cx="49530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3B6120-94FE-460D-877E-C31325C7F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876550"/>
            <a:ext cx="571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B76A"/>
          </a:solidFill>
          <a:ln xmlns:a="http://schemas.openxmlformats.org/drawingml/2006/main" w="0">
            <a:solidFill>
              <a:srgbClr val="12B76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8528B5-A8F0-4051-BCE2-04465CE1E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086100"/>
            <a:ext cx="4419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0F19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0F19"/>
                </a:solidFill>
                <a:latin typeface="Aptos"/>
                <a:ea typeface="Aptos"/>
                <a:cs typeface="Aptos"/>
              </a:rPr>
              <a:t>GEO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39817C-117A-490E-BF95-F191D427E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429000"/>
            <a:ext cx="44196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Prepare content for AI search, answer engines, citations, and structured visibility.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FFC18D-F960-446D-AA88-2443F7AD5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38650"/>
            <a:ext cx="49530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AE14A49-E1C2-4045-B71B-E306DE115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38650"/>
            <a:ext cx="571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5AF2"/>
          </a:solidFill>
          <a:ln xmlns:a="http://schemas.openxmlformats.org/drawingml/2006/main" w="0">
            <a:solidFill>
              <a:srgbClr val="EC5AF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0F8954-6B24-451F-870A-5C67816DF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648200"/>
            <a:ext cx="4419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0F19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0F19"/>
                </a:solidFill>
                <a:latin typeface="Aptos"/>
                <a:ea typeface="Aptos"/>
                <a:cs typeface="Aptos"/>
              </a:rPr>
              <a:t>Social media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974FBA1-2B39-4948-9A72-FB727B38F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991100"/>
            <a:ext cx="44196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Prepare, schedule, publish, and listen across key channels with founder review.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F5F8291-B5C9-4298-BEC2-68749C68D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438650"/>
            <a:ext cx="49530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CCBCB55-EEBB-42C7-8473-5B8A62C47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438650"/>
            <a:ext cx="571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F34E0C4-4603-4B84-9E95-78EED6769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648200"/>
            <a:ext cx="4419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0F19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0F19"/>
                </a:solidFill>
                <a:latin typeface="Aptos"/>
                <a:ea typeface="Aptos"/>
                <a:cs typeface="Aptos"/>
              </a:rPr>
              <a:t>Ad management · upcoming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4025202-EB4D-42B1-9832-5C2DEE7A2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991100"/>
            <a:ext cx="44196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Extend the same CMO-led workflow into campaign budget and paid acquisition.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8D3ED83-0CE9-4E8A-8A2B-D69C44810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57950"/>
            <a:ext cx="228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8A2B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8A2B3"/>
                </a:solidFill>
                <a:latin typeface="Aptos"/>
                <a:ea typeface="Aptos"/>
                <a:cs typeface="Aptos"/>
              </a:rPr>
              <a:t>Flywheel go deck v0.2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9154B10-9D5E-4607-9E21-0FC2D59B3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389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98A2B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98A2B3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554226264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E72672F-1C6C-447E-BD9E-EE3D3D267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AB56AD-867E-429C-A0CD-C7D6A7C0E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-2190750"/>
            <a:ext cx="4095750" cy="409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F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C759AD-E5BA-4D03-AC5F-8736CD77F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790700" y="5143500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2425F4-2697-414A-941C-92E061D62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2450"/>
            <a:ext cx="723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7DF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F7DF6"/>
                </a:solidFill>
                <a:latin typeface="Aptos"/>
                <a:ea typeface="Aptos"/>
                <a:cs typeface="Aptos"/>
              </a:rPr>
              <a:t>FOUNDER CONTROL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17F06D-D090-4767-867C-8EBC52707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19150"/>
            <a:ext cx="72390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B0F19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0B0F19"/>
                </a:solidFill>
                <a:latin typeface="Aptos Display"/>
                <a:ea typeface="Aptos Display"/>
                <a:cs typeface="Aptos Display"/>
              </a:rPr>
              <a:t>Proactive execution with founder control.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2F415B-DFEE-43CB-9103-8A2A8C48E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71650"/>
            <a:ext cx="6572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Flywheel moves work forward and asks for review at the moments that matter.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823513-5B9A-444C-938E-BB6C74ED6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143250"/>
            <a:ext cx="20383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63C70A-8B14-4FC2-813E-73568C2CC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33375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2F7DF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1405F8-A169-4B52-BC5E-0221B9112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400425"/>
            <a:ext cx="304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F7DF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F7DF6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1D6B52-0C8F-4250-A373-668FFB8D8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33800"/>
            <a:ext cx="1676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0B0F19"/>
                </a:solidFill>
                <a:latin typeface="Aptos"/>
                <a:ea typeface="Aptos"/>
                <a:cs typeface="Aptos"/>
              </a:defRPr>
            </a:pPr>
            <a:r>
              <a:rPr sz="1163" b="1">
                <a:solidFill>
                  <a:srgbClr val="0B0F19"/>
                </a:solidFill>
                <a:latin typeface="Aptos"/>
                <a:ea typeface="Aptos"/>
                <a:cs typeface="Aptos"/>
              </a:rPr>
              <a:t>CMO proposes direction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4C4477-B7E2-4654-99ED-02AA1A4D9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038600"/>
            <a:ext cx="16764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7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Campaign direction and strategy are recommended before execution.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1AE079-C875-4FEB-827D-0DAD4F5FE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143250"/>
            <a:ext cx="20383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BE2EE7-89B7-4320-8D9E-207F2D0A2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33375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2F7DF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C34EAF-5453-4FDA-8D0E-C3676CBE9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400425"/>
            <a:ext cx="304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F7DF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F7DF6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FDB82B-236C-4355-AD81-557D2AD05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733800"/>
            <a:ext cx="1676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0B0F19"/>
                </a:solidFill>
                <a:latin typeface="Aptos"/>
                <a:ea typeface="Aptos"/>
                <a:cs typeface="Aptos"/>
              </a:defRPr>
            </a:pPr>
            <a:r>
              <a:rPr sz="1163" b="1">
                <a:solidFill>
                  <a:srgbClr val="0B0F19"/>
                </a:solidFill>
                <a:latin typeface="Aptos"/>
                <a:ea typeface="Aptos"/>
                <a:cs typeface="Aptos"/>
              </a:rPr>
              <a:t>Founder confirms plan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A0AA4E-D570-41B0-A607-FDF046E3D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038600"/>
            <a:ext cx="16764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7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The founder stays in control of the campaign and high-risk actions.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965EF1-1F0B-497F-8908-7FC3E525F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143250"/>
            <a:ext cx="20383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62756E5-8F1E-44C7-B074-41F44CDED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33375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2F7DF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AE4F539-D4AE-4BD5-8192-1155502B0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400425"/>
            <a:ext cx="304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F7DF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F7DF6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89B1CB8-D999-46A8-BB0B-A51825A79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733800"/>
            <a:ext cx="1676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0B0F19"/>
                </a:solidFill>
                <a:latin typeface="Aptos"/>
                <a:ea typeface="Aptos"/>
                <a:cs typeface="Aptos"/>
              </a:defRPr>
            </a:pPr>
            <a:r>
              <a:rPr sz="1163" b="1">
                <a:solidFill>
                  <a:srgbClr val="0B0F19"/>
                </a:solidFill>
                <a:latin typeface="Aptos"/>
                <a:ea typeface="Aptos"/>
                <a:cs typeface="Aptos"/>
              </a:rPr>
              <a:t>Specialists prepare work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3DB8CC4-5357-4F39-AE1F-BA64D38A5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038600"/>
            <a:ext cx="16764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7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Content, social posts, and insights are generated as review-ready outputs.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0CFE19D-D405-4557-8E55-4F73B79F8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143250"/>
            <a:ext cx="20383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ECF9CA5-9BAC-431C-9AC5-A3BC0A5C0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33375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2F7DF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CDA2C3D-CDD5-4126-9856-C0AD04848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400425"/>
            <a:ext cx="304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F7DF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F7DF6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B04EFCE-625E-40A8-BD43-C1BC3C03D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733800"/>
            <a:ext cx="1676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0B0F19"/>
                </a:solidFill>
                <a:latin typeface="Aptos"/>
                <a:ea typeface="Aptos"/>
                <a:cs typeface="Aptos"/>
              </a:defRPr>
            </a:pPr>
            <a:r>
              <a:rPr sz="1163" b="1">
                <a:solidFill>
                  <a:srgbClr val="0B0F19"/>
                </a:solidFill>
                <a:latin typeface="Aptos"/>
                <a:ea typeface="Aptos"/>
                <a:cs typeface="Aptos"/>
              </a:rPr>
              <a:t>CMO reports back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11EC3DB-2A56-4F33-927A-4D68E954F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038600"/>
            <a:ext cx="16764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7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Results and learnings return to the next campaign loop.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D997151-A0F1-42AF-B9C4-C9AFFD81D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105400"/>
            <a:ext cx="8763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7EAB32C-9D07-4DE1-8E9A-245E8EB03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5314950"/>
            <a:ext cx="476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F6"/>
          </a:solidFill>
          <a:ln xmlns:a="http://schemas.openxmlformats.org/drawingml/2006/main" w="0">
            <a:solidFill>
              <a:srgbClr val="2F7DF6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87BC11B-AB34-4F7A-94C3-87F099517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334000"/>
            <a:ext cx="81724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0F19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B0F19"/>
                </a:solidFill>
                <a:latin typeface="Aptos"/>
                <a:ea typeface="Aptos"/>
                <a:cs typeface="Aptos"/>
              </a:rPr>
              <a:t>Default mode: proactive execution with lightweight founder review.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D29F37C-6C25-4699-A914-FC3E349D8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57950"/>
            <a:ext cx="228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8A2B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8A2B3"/>
                </a:solidFill>
                <a:latin typeface="Aptos"/>
                <a:ea typeface="Aptos"/>
                <a:cs typeface="Aptos"/>
              </a:rPr>
              <a:t>Flywheel go deck v0.2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3A592D6-EBFE-46E6-80D1-808C9D11A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389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98A2B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98A2B3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59013247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90D6903-7CF8-489E-8A9F-C9AFFC8E8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0B4F12-7767-40F5-ACD9-03A0A6C3C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-2190750"/>
            <a:ext cx="4095750" cy="409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F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D5F40B-F0E6-417C-A0DE-DCF3AE0CD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790700" y="5143500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C5DEDE-E9C4-4527-A638-DEAF745D5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2450"/>
            <a:ext cx="8096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7DF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F7DF6"/>
                </a:solidFill>
                <a:latin typeface="Aptos"/>
                <a:ea typeface="Aptos"/>
                <a:cs typeface="Aptos"/>
              </a:rPr>
              <a:t>WHY WE WIN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CD4531-535F-43A4-B6DB-E9F423D13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19150"/>
            <a:ext cx="80962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B0F19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0B0F19"/>
                </a:solidFill>
                <a:latin typeface="Aptos Display"/>
                <a:ea typeface="Aptos Display"/>
                <a:cs typeface="Aptos Display"/>
              </a:rPr>
              <a:t>Vertical know-how plus proactive execution.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F9EC99-0FB0-4670-AC04-0F10CF6F2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71650"/>
            <a:ext cx="6572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Generic AI can draft content. Flywheel is built around the marketing workflow small teams need to run every week.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D6040F-EA1B-4032-8D2F-F60525FB8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00350"/>
            <a:ext cx="4762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6A0C15-4DD9-4E3C-B58B-CFE679E38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00350"/>
            <a:ext cx="57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F6"/>
          </a:solidFill>
          <a:ln xmlns:a="http://schemas.openxmlformats.org/drawingml/2006/main" w="0">
            <a:solidFill>
              <a:srgbClr val="2F7DF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AB3CD8-F4E6-489C-A555-8D37A4B1D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009900"/>
            <a:ext cx="4229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0F19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0F19"/>
                </a:solidFill>
                <a:latin typeface="Aptos"/>
                <a:ea typeface="Aptos"/>
                <a:cs typeface="Aptos"/>
              </a:rPr>
              <a:t>Business memory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FB56A3-039D-41F2-9B50-0D64121A7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352800"/>
            <a:ext cx="4229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Learns brand, competitors, market signals, and user preferences.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F98F4A-1B18-433E-81C2-F5043CC3B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57650"/>
            <a:ext cx="4762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BE5E30-FA3C-4CB4-B760-47FC57AFD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57650"/>
            <a:ext cx="57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B76A"/>
          </a:solidFill>
          <a:ln xmlns:a="http://schemas.openxmlformats.org/drawingml/2006/main" w="0">
            <a:solidFill>
              <a:srgbClr val="12B76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3A2F9F-A4ED-4E59-9686-083308759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267200"/>
            <a:ext cx="4229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0F19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0F19"/>
                </a:solidFill>
                <a:latin typeface="Aptos"/>
                <a:ea typeface="Aptos"/>
                <a:cs typeface="Aptos"/>
              </a:rPr>
              <a:t>Marketing judgment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FF8C79-4A88-49F0-8E40-5DC889FB2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610100"/>
            <a:ext cx="4229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The CMO decides what matters and what should happen next.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532D09-D014-4D80-A1D5-9A6764319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314950"/>
            <a:ext cx="4762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7C8F3D-C7D4-487D-B1A0-784B5CC93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314950"/>
            <a:ext cx="571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859007F-F1E6-4AA3-BD66-0A0A1E109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524500"/>
            <a:ext cx="4229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0F19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0F19"/>
                </a:solidFill>
                <a:latin typeface="Aptos"/>
                <a:ea typeface="Aptos"/>
                <a:cs typeface="Aptos"/>
              </a:rPr>
              <a:t>Execution loop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EA50B77-8406-4370-8074-8A0F96FC7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867400"/>
            <a:ext cx="4229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Every campaign and review improves the next recommendation.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BAD9D3A-1DDE-4C84-8F6D-EB43A1283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705100"/>
            <a:ext cx="4762500" cy="3409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A76ECB3-43F2-4C8C-A303-B597474BD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952750"/>
            <a:ext cx="4191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0F19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B0F19"/>
                </a:solidFill>
                <a:latin typeface="Aptos"/>
                <a:ea typeface="Aptos"/>
                <a:cs typeface="Aptos"/>
              </a:rPr>
              <a:t>Flywheel operating loop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6D5C2C0-E63D-4FC9-A21A-9F48DCF1C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257550"/>
            <a:ext cx="419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A repeatable system for deciding, producing, reviewing, and learning.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DA6D3AD-3487-4D76-874C-DD9A3FCB2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886200"/>
            <a:ext cx="1905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7FE"/>
          </a:solidFill>
          <a:ln xmlns:a="http://schemas.openxmlformats.org/drawingml/2006/main" w="0">
            <a:solidFill>
              <a:srgbClr val="C7D7F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D4FB57B-C4DE-4CB4-AE6E-859187A71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7433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F7DF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DCD0591-9EDB-473D-B18C-E1E608D4B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810000"/>
            <a:ext cx="285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15" b="1">
                <a:solidFill>
                  <a:srgbClr val="2F7DF6"/>
                </a:solidFill>
                <a:latin typeface="Aptos"/>
                <a:ea typeface="Aptos"/>
                <a:cs typeface="Aptos"/>
              </a:defRPr>
            </a:pPr>
            <a:r>
              <a:rPr sz="615" b="1">
                <a:solidFill>
                  <a:srgbClr val="2F7DF6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5477DC0-E20D-4D0D-A8E1-B8F32EC15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714750"/>
            <a:ext cx="3333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8CFA548-BAFC-432C-BA9D-9819E7920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714750"/>
            <a:ext cx="38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F6"/>
          </a:solidFill>
          <a:ln xmlns:a="http://schemas.openxmlformats.org/drawingml/2006/main" w="0">
            <a:solidFill>
              <a:srgbClr val="2F7DF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786AB95-4C5D-44B6-85E1-83A97F46A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781425"/>
            <a:ext cx="1809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53" b="1">
                <a:solidFill>
                  <a:srgbClr val="0B0F19"/>
                </a:solidFill>
                <a:latin typeface="Aptos"/>
                <a:ea typeface="Aptos"/>
                <a:cs typeface="Aptos"/>
              </a:defRPr>
            </a:pPr>
            <a:r>
              <a:rPr sz="953" b="1">
                <a:solidFill>
                  <a:srgbClr val="0B0F19"/>
                </a:solidFill>
                <a:latin typeface="Aptos"/>
                <a:ea typeface="Aptos"/>
                <a:cs typeface="Aptos"/>
              </a:rPr>
              <a:t>Understand the business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BCE06AE-DB94-4FFA-88C1-671967359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933825"/>
            <a:ext cx="28956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0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0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Website, brand context, market signals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A66E004-C024-448F-9094-55D686653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1814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2B76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3005D08-307B-43C2-8176-07D4A5400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248150"/>
            <a:ext cx="285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15" b="1">
                <a:solidFill>
                  <a:srgbClr val="12B76A"/>
                </a:solidFill>
                <a:latin typeface="Aptos"/>
                <a:ea typeface="Aptos"/>
                <a:cs typeface="Aptos"/>
              </a:defRPr>
            </a:pPr>
            <a:r>
              <a:rPr sz="615" b="1">
                <a:solidFill>
                  <a:srgbClr val="12B76A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4BD6621-4510-4716-B05D-93B2E5F4C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152900"/>
            <a:ext cx="3333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AED9523-902E-4B98-888F-4282C9E75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152900"/>
            <a:ext cx="38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B76A"/>
          </a:solidFill>
          <a:ln xmlns:a="http://schemas.openxmlformats.org/drawingml/2006/main" w="0">
            <a:solidFill>
              <a:srgbClr val="12B76A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6B98F5C-7ACB-4AC0-8B49-B51275B1B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219575"/>
            <a:ext cx="1809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53" b="1">
                <a:solidFill>
                  <a:srgbClr val="0B0F19"/>
                </a:solidFill>
                <a:latin typeface="Aptos"/>
                <a:ea typeface="Aptos"/>
                <a:cs typeface="Aptos"/>
              </a:defRPr>
            </a:pPr>
            <a:r>
              <a:rPr sz="953" b="1">
                <a:solidFill>
                  <a:srgbClr val="0B0F19"/>
                </a:solidFill>
                <a:latin typeface="Aptos"/>
                <a:ea typeface="Aptos"/>
                <a:cs typeface="Aptos"/>
              </a:rPr>
              <a:t>Prioritize the opportunity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42505AA-1AFD-4E6D-BFF3-9652407D7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371975"/>
            <a:ext cx="28956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0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0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CMO chooses the highest-leverage move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BF94464-D6AF-420E-83F5-58B73B74B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6196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EC5AF2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193FDEF-C3AB-4954-9BDD-849FF5C59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686300"/>
            <a:ext cx="285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15" b="1">
                <a:solidFill>
                  <a:srgbClr val="EC5AF2"/>
                </a:solidFill>
                <a:latin typeface="Aptos"/>
                <a:ea typeface="Aptos"/>
                <a:cs typeface="Aptos"/>
              </a:defRPr>
            </a:pPr>
            <a:r>
              <a:rPr sz="615" b="1">
                <a:solidFill>
                  <a:srgbClr val="EC5AF2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D69AC94-B36F-46C4-8637-6B94BCFB4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591050"/>
            <a:ext cx="3333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EE9EEDE-7575-43DD-863F-B3F44C183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591050"/>
            <a:ext cx="38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5AF2"/>
          </a:solidFill>
          <a:ln xmlns:a="http://schemas.openxmlformats.org/drawingml/2006/main" w="0">
            <a:solidFill>
              <a:srgbClr val="EC5AF2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67CD687-434E-4BA4-9706-4B1730A07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657725"/>
            <a:ext cx="1809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53" b="1">
                <a:solidFill>
                  <a:srgbClr val="0B0F19"/>
                </a:solidFill>
                <a:latin typeface="Aptos"/>
                <a:ea typeface="Aptos"/>
                <a:cs typeface="Aptos"/>
              </a:defRPr>
            </a:pPr>
            <a:r>
              <a:rPr sz="953" b="1">
                <a:solidFill>
                  <a:srgbClr val="0B0F19"/>
                </a:solidFill>
                <a:latin typeface="Aptos"/>
                <a:ea typeface="Aptos"/>
                <a:cs typeface="Aptos"/>
              </a:rPr>
              <a:t>Create review-ready work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6831B4A-E0EF-4EE2-8F42-7FB526DB6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810125"/>
            <a:ext cx="28956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0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0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Specialists prepare content, social, SEO, insights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86FBA30-2281-402A-A378-35F543CE7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0577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F59E0B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436E0D2-16A9-4082-9F55-985CA2C38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124450"/>
            <a:ext cx="285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15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615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CC15D7D-DEC9-44D7-949A-F1BE97A32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5029200"/>
            <a:ext cx="3333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97D5006-B98A-4609-8F8E-215EEA7E6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5029200"/>
            <a:ext cx="38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E7CE17D-AB31-4926-B3DF-93C4548D7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095875"/>
            <a:ext cx="1809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53" b="1">
                <a:solidFill>
                  <a:srgbClr val="0B0F19"/>
                </a:solidFill>
                <a:latin typeface="Aptos"/>
                <a:ea typeface="Aptos"/>
                <a:cs typeface="Aptos"/>
              </a:defRPr>
            </a:pPr>
            <a:r>
              <a:rPr sz="953" b="1">
                <a:solidFill>
                  <a:srgbClr val="0B0F19"/>
                </a:solidFill>
                <a:latin typeface="Aptos"/>
                <a:ea typeface="Aptos"/>
                <a:cs typeface="Aptos"/>
              </a:rPr>
              <a:t>Review and publish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A3F97E4-7402-4693-95FC-FB97D95FB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248275"/>
            <a:ext cx="28956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0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0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Founder keeps control at key moments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EE72D3F-AA02-4472-9A93-7C4341C5E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4959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55EEF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F991F8E-A95C-41C7-8808-C4AF450E5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562600"/>
            <a:ext cx="285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15" b="1">
                <a:solidFill>
                  <a:srgbClr val="155EEF"/>
                </a:solidFill>
                <a:latin typeface="Aptos"/>
                <a:ea typeface="Aptos"/>
                <a:cs typeface="Aptos"/>
              </a:defRPr>
            </a:pPr>
            <a:r>
              <a:rPr sz="615" b="1">
                <a:solidFill>
                  <a:srgbClr val="155EEF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99E51B2-1F10-4D65-AA0B-F31A715ED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5467350"/>
            <a:ext cx="3333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ECB5DF7-2777-411E-A93E-B6537F113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5467350"/>
            <a:ext cx="38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5EEF"/>
          </a:solidFill>
          <a:ln xmlns:a="http://schemas.openxmlformats.org/drawingml/2006/main" w="0">
            <a:solidFill>
              <a:srgbClr val="155EEF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1CDE6E1-BE97-46AF-8520-AD3F10F6D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534025"/>
            <a:ext cx="1809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53" b="1">
                <a:solidFill>
                  <a:srgbClr val="0B0F19"/>
                </a:solidFill>
                <a:latin typeface="Aptos"/>
                <a:ea typeface="Aptos"/>
                <a:cs typeface="Aptos"/>
              </a:defRPr>
            </a:pPr>
            <a:r>
              <a:rPr sz="953" b="1">
                <a:solidFill>
                  <a:srgbClr val="0B0F19"/>
                </a:solidFill>
                <a:latin typeface="Aptos"/>
                <a:ea typeface="Aptos"/>
                <a:cs typeface="Aptos"/>
              </a:rPr>
              <a:t>Update the memory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CB801FD-B15D-4B32-B96F-065B65FAF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686425"/>
            <a:ext cx="28956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0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0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Results feed the next campaign decision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177768E-EB9E-41D8-BD24-90E51CDE2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000750"/>
            <a:ext cx="3333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F6"/>
          </a:solidFill>
          <a:ln xmlns:a="http://schemas.openxmlformats.org/drawingml/2006/main" w="0">
            <a:solidFill>
              <a:srgbClr val="2F7DF6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AE0B09A-86D4-4660-9224-48939B93B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57950"/>
            <a:ext cx="228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8A2B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8A2B3"/>
                </a:solidFill>
                <a:latin typeface="Aptos"/>
                <a:ea typeface="Aptos"/>
                <a:cs typeface="Aptos"/>
              </a:rPr>
              <a:t>Flywheel go deck v0.2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8EAF45BB-5311-4419-8706-68B66D36C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389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98A2B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98A2B3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505736674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65A796C-8920-4E67-A6EE-B92CC22C6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F0CFD4-7FB5-4378-B458-49FC4882B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-2190750"/>
            <a:ext cx="4095750" cy="409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F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4A1CD3-286E-420E-B1F1-9311B6C9E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790700" y="5143500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347951-092C-4CAE-B5E0-984298BF2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2450"/>
            <a:ext cx="790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7DF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F7DF6"/>
                </a:solidFill>
                <a:latin typeface="Aptos"/>
                <a:ea typeface="Aptos"/>
                <a:cs typeface="Aptos"/>
              </a:rPr>
              <a:t>WHO IT IS FOR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3D8551-B588-4368-9ADA-6B6F68FF0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19150"/>
            <a:ext cx="79057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B0F19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0B0F19"/>
                </a:solidFill>
                <a:latin typeface="Aptos Display"/>
                <a:ea typeface="Aptos Display"/>
                <a:cs typeface="Aptos Display"/>
              </a:rPr>
              <a:t>Founder-led businesses that need marketing motion now.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43C451-19F0-4266-BCE7-C58FB0DD5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71650"/>
            <a:ext cx="6572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Flywheel starts with the teams that feel marketing pressure before they can justify hiring a full marketing team.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EE4163-9B11-47BE-BD69-998765589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57500"/>
            <a:ext cx="32385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BB2201-96F1-4069-B3D0-D1D2AD3A4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48000"/>
            <a:ext cx="2819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2F7DF6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2F7DF6"/>
                </a:solidFill>
                <a:latin typeface="Aptos"/>
                <a:ea typeface="Aptos"/>
                <a:cs typeface="Aptos"/>
              </a:rPr>
              <a:t>ONE-PERSON COMPANIES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70F5F1-413A-4678-9772-8AA12FA8E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95650"/>
            <a:ext cx="2819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0F19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B0F19"/>
                </a:solidFill>
                <a:latin typeface="Aptos"/>
                <a:ea typeface="Aptos"/>
                <a:cs typeface="Aptos"/>
              </a:rPr>
              <a:t>No marketing hire yet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B31461-7EC5-4287-9B9A-3D7EC2D7B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76650"/>
            <a:ext cx="28194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The founder owns the product, sales, support, and marketing decisions at the same time.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781E1F-3E10-4EC7-8AC7-FC547ED6E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857500"/>
            <a:ext cx="32385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FC5A85-724D-464B-8CFD-F4A7B23B3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048000"/>
            <a:ext cx="2819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2B76A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2B76A"/>
                </a:solidFill>
                <a:latin typeface="Aptos"/>
                <a:ea typeface="Aptos"/>
                <a:cs typeface="Aptos"/>
              </a:rPr>
              <a:t>SMBS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A5BF94-26A1-435C-B98F-0BCD69773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295650"/>
            <a:ext cx="2819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0F19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B0F19"/>
                </a:solidFill>
                <a:latin typeface="Aptos"/>
                <a:ea typeface="Aptos"/>
                <a:cs typeface="Aptos"/>
              </a:rPr>
              <a:t>Need repeatable growth work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5B8EDE-A045-4AEF-9D88-F734D6ED8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676650"/>
            <a:ext cx="28194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They need steady SEO, GEO, content, social, and campaign execution while keeping tool management low.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93870C-AFDD-4851-997B-DBBBD07CF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857500"/>
            <a:ext cx="32385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E652FA-3ED0-4B97-9CC5-28BC72496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048000"/>
            <a:ext cx="2819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EARLY TEAMS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44BEF35-1287-49AD-A4EE-0A93BC99E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295650"/>
            <a:ext cx="2819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0F19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B0F19"/>
                </a:solidFill>
                <a:latin typeface="Aptos"/>
                <a:ea typeface="Aptos"/>
                <a:cs typeface="Aptos"/>
              </a:rPr>
              <a:t>Too early for a full team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F4AFB53-66E2-452E-BF2C-4559696B7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676650"/>
            <a:ext cx="28194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They need a marketing operating rhythm before building a dedicated content, social, SEO, and analytics function.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68C9C8C-4B1A-4518-B774-561219664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219700"/>
            <a:ext cx="9715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0F19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B0F19"/>
                </a:solidFill>
                <a:latin typeface="Aptos"/>
                <a:ea typeface="Aptos"/>
                <a:cs typeface="Aptos"/>
              </a:rPr>
              <a:t>The first wedge: businesses with weekly marketing urgency and limited team capacity.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4922896-461B-449A-968F-9587866B5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57950"/>
            <a:ext cx="228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8A2B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8A2B3"/>
                </a:solidFill>
                <a:latin typeface="Aptos"/>
                <a:ea typeface="Aptos"/>
                <a:cs typeface="Aptos"/>
              </a:rPr>
              <a:t>Flywheel go deck v0.2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7267153-3C10-40C8-AA5D-981D4FECF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389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98A2B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98A2B3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472315149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7A16C57-D8E3-4B0B-8E8D-EA7E94F34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754F8A-60B8-4025-8B9F-C18A9ED07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-2190750"/>
            <a:ext cx="4095750" cy="409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F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1C2862-82A4-41D5-ADB2-13BC2F37F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790700" y="5143500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B4EE46-8505-4D3A-9ADA-945C8D33B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2450"/>
            <a:ext cx="819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7DF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F7DF6"/>
                </a:solidFill>
                <a:latin typeface="Aptos"/>
                <a:ea typeface="Aptos"/>
                <a:cs typeface="Aptos"/>
              </a:rPr>
              <a:t>WHAT WE WANT FROM THE ROOM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8A0A89-F1E6-47F6-9B9C-23D3F6DE7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19150"/>
            <a:ext cx="81915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B0F19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0B0F19"/>
                </a:solidFill>
                <a:latin typeface="Aptos Display"/>
                <a:ea typeface="Aptos Display"/>
                <a:cs typeface="Aptos Display"/>
              </a:rPr>
              <a:t>A focused live demo and the right follow-up conversations.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DA021B-5839-4778-BDB0-06FD134B8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71650"/>
            <a:ext cx="6572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The goal: make the new category easy to understand and worth exploring.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C56923-1C55-49C8-AE77-694EE5E48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57500"/>
            <a:ext cx="3200400" cy="1962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DA25C7-F191-41B8-9E29-50CD4C8D6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048000"/>
            <a:ext cx="2781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2F7DF6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2F7DF6"/>
                </a:solidFill>
                <a:latin typeface="Aptos"/>
                <a:ea typeface="Aptos"/>
                <a:cs typeface="Aptos"/>
              </a:rPr>
              <a:t>DEMO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06C8A4-546E-4792-A8CD-F05A1C646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95650"/>
            <a:ext cx="2781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0F19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B0F19"/>
                </a:solidFill>
                <a:latin typeface="Aptos"/>
                <a:ea typeface="Aptos"/>
                <a:cs typeface="Aptos"/>
              </a:rPr>
              <a:t>Show the operator loop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00DA95-9C34-4745-975C-0FB927DBE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76650"/>
            <a:ext cx="27813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Start from a company URL, then move quickly to business memory, CMO planning, and one review-ready output.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5D53D6-AC80-4776-BEE4-E4C18EE1D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857500"/>
            <a:ext cx="3200400" cy="1962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018959-D88F-4EAA-AA31-BE28FA0D0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048000"/>
            <a:ext cx="2781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2B76A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2B76A"/>
                </a:solidFill>
                <a:latin typeface="Aptos"/>
                <a:ea typeface="Aptos"/>
                <a:cs typeface="Aptos"/>
              </a:rPr>
              <a:t>PARTNERS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A8363C-4AEA-4823-A597-EBD0071C9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295650"/>
            <a:ext cx="2781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0F19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B0F19"/>
                </a:solidFill>
                <a:latin typeface="Aptos"/>
                <a:ea typeface="Aptos"/>
                <a:cs typeface="Aptos"/>
              </a:rPr>
              <a:t>Find pilot paths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D00012-8652-413E-83C1-595E8C58F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676650"/>
            <a:ext cx="27813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Look for SMB, founder, and ecosystem partners where Flywheel can prove weekly marketing execution value.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4AA188-2895-4F97-B8DA-F88DF09B1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857500"/>
            <a:ext cx="3200400" cy="1962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F69083-3DB9-45FE-B542-C130ED7FC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048000"/>
            <a:ext cx="2781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INVESTORS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EC60954-827E-4EAA-A6D7-814B71E8C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295650"/>
            <a:ext cx="2781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0F19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B0F19"/>
                </a:solidFill>
                <a:latin typeface="Aptos"/>
                <a:ea typeface="Aptos"/>
                <a:cs typeface="Aptos"/>
              </a:rPr>
              <a:t>Earn the second meeting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E3C50EF-6CE9-424A-8F3B-3CED0D6F7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676650"/>
            <a:ext cx="27813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Make the thesis clear: small teams need a marketing operator ahead of more prompt boxes or dashboards.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C7EDABF-B78D-44E4-8D51-D25B9BFA7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391150"/>
            <a:ext cx="9258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F7DF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5035995-D26F-4B08-94D0-4F7F4053E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562600"/>
            <a:ext cx="857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55EE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55EEF"/>
                </a:solidFill>
                <a:latin typeface="Aptos"/>
                <a:ea typeface="Aptos"/>
                <a:cs typeface="Aptos"/>
              </a:rPr>
              <a:t>Desired takeaway: Flywheel can become the always-on marketing team for small businesses.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0C3468-F0DD-471B-A519-C70AA328B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57950"/>
            <a:ext cx="228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8A2B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8A2B3"/>
                </a:solidFill>
                <a:latin typeface="Aptos"/>
                <a:ea typeface="Aptos"/>
                <a:cs typeface="Aptos"/>
              </a:rPr>
              <a:t>Flywheel go deck v0.2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AF62C6B-223F-4751-BA47-2ED4775CF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389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98A2B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98A2B3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2100050149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DC118EC-4D5D-4B8A-A75B-B990BA75B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F3CC9C-63E4-4002-8A8F-B8587B646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-2190750"/>
            <a:ext cx="4095750" cy="409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F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5EC647-1A70-4A22-A8C9-4ADDC1B31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790700" y="5143500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203FF4-3406-4F01-A574-B97A5344E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2450"/>
            <a:ext cx="723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7DF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F7DF6"/>
                </a:solidFill>
                <a:latin typeface="Aptos"/>
                <a:ea typeface="Aptos"/>
                <a:cs typeface="Aptos"/>
              </a:rPr>
              <a:t>CLOSING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319F97-FF08-4F00-BD19-A47B65F6D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19150"/>
            <a:ext cx="72390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B0F19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0B0F19"/>
                </a:solidFill>
                <a:latin typeface="Aptos Display"/>
                <a:ea typeface="Aptos Display"/>
                <a:cs typeface="Aptos Display"/>
              </a:rPr>
              <a:t>Every small business will need an AI marketing operator.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F14E42-4637-4F7F-873C-50A5CE2CD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71650"/>
            <a:ext cx="6572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Flywheel helps founders and small teams keep marketing moving before they hire a full marketing team.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709b243d0f435e"/>
          <a:stretch xmlns:a="http://schemas.openxmlformats.org/drawingml/2006/main"/>
        </p:blipFill>
        <p:spPr>
          <a:xfrm xmlns:a="http://schemas.openxmlformats.org/drawingml/2006/main">
            <a:off x="7067550" y="1298285"/>
            <a:ext cx="3638550" cy="2299279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94917D-B1FF-4C35-B534-593460F40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62350"/>
            <a:ext cx="514350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F7DF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30B165-B580-4DE8-943D-084F52322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67150"/>
            <a:ext cx="4572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0F19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B0F19"/>
                </a:solidFill>
                <a:latin typeface="Aptos"/>
                <a:ea typeface="Aptos"/>
                <a:cs typeface="Aptos"/>
              </a:rPr>
              <a:t>Live demo ready.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AAD590-DE36-47AB-955B-B6D92EAE5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29100"/>
            <a:ext cx="44005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344054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344054"/>
                </a:solidFill>
                <a:latin typeface="Aptos"/>
                <a:ea typeface="Aptos"/>
                <a:cs typeface="Aptos"/>
              </a:rPr>
              <a:t>Looking for pilot users, strategic partners, and follow-up conversations.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E67778-258A-4E01-B219-9BE04CE2D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7053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5EE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55EEF"/>
                </a:solidFill>
                <a:latin typeface="Aptos"/>
                <a:ea typeface="Aptos"/>
                <a:cs typeface="Aptos"/>
              </a:rPr>
              <a:t>Website: https://mktflywheel.ai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D95974-0BF3-4617-8DD6-DBFB25DC6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81650"/>
            <a:ext cx="7239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44054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344054"/>
                </a:solidFill>
                <a:latin typeface="Aptos"/>
                <a:ea typeface="Aptos"/>
                <a:cs typeface="Aptos"/>
              </a:rPr>
              <a:t>Proactive AI CMO · Vertical marketing know-how · Campaign execution loop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BB8489-62FB-43AC-AAF5-C3B4FAB31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57950"/>
            <a:ext cx="228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8A2B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8A2B3"/>
                </a:solidFill>
                <a:latin typeface="Aptos"/>
                <a:ea typeface="Aptos"/>
                <a:cs typeface="Aptos"/>
              </a:rPr>
              <a:t>Flywheel go deck v0.2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57736A-CC73-4059-B515-5CFAD8EB4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389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98A2B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98A2B3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57846043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2026-05-12T10:11:58.9580000Z</dcterms:created>
  <dcterms:modified xsi:type="dcterms:W3CDTF">2026-05-12T10:11:58.9580000Z</dcterms:modified>
</coreProperties>
</file>